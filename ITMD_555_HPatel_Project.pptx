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6"/>
  </p:notesMasterIdLst>
  <p:handoutMasterIdLst>
    <p:handoutMasterId r:id="rId17"/>
  </p:handoutMasterIdLst>
  <p:sldIdLst>
    <p:sldId id="258" r:id="rId5"/>
    <p:sldId id="259" r:id="rId6"/>
    <p:sldId id="260" r:id="rId7"/>
    <p:sldId id="261" r:id="rId8"/>
    <p:sldId id="262" r:id="rId9"/>
    <p:sldId id="263" r:id="rId10"/>
    <p:sldId id="264" r:id="rId11"/>
    <p:sldId id="267" r:id="rId12"/>
    <p:sldId id="266"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D460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135" autoAdjust="0"/>
    <p:restoredTop sz="83587"/>
  </p:normalViewPr>
  <p:slideViewPr>
    <p:cSldViewPr snapToGrid="0">
      <p:cViewPr varScale="1">
        <p:scale>
          <a:sx n="104" d="100"/>
          <a:sy n="104" d="100"/>
        </p:scale>
        <p:origin x="1272" y="192"/>
      </p:cViewPr>
      <p:guideLst>
        <p:guide orient="horz" pos="2160"/>
        <p:guide pos="3840"/>
      </p:guideLst>
    </p:cSldViewPr>
  </p:slideViewPr>
  <p:notesTextViewPr>
    <p:cViewPr>
      <p:scale>
        <a:sx n="1" d="1"/>
        <a:sy n="1" d="1"/>
      </p:scale>
      <p:origin x="0" y="0"/>
    </p:cViewPr>
  </p:notesTextViewPr>
  <p:notesViewPr>
    <p:cSldViewPr snapToGrid="0">
      <p:cViewPr varScale="1">
        <p:scale>
          <a:sx n="60" d="100"/>
          <a:sy n="60" d="100"/>
        </p:scale>
        <p:origin x="3187" y="4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5D87526-5986-4805-9A0C-28DE5A6E365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A9888DD-1824-433D-93E6-107CB483B5A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293149-04DB-480C-B99F-2D0FF8BD0396}" type="datetimeFigureOut">
              <a:rPr lang="en-US" smtClean="0"/>
              <a:t>5/6/26</a:t>
            </a:fld>
            <a:endParaRPr lang="en-US"/>
          </a:p>
        </p:txBody>
      </p:sp>
      <p:sp>
        <p:nvSpPr>
          <p:cNvPr id="4" name="Footer Placeholder 3">
            <a:extLst>
              <a:ext uri="{FF2B5EF4-FFF2-40B4-BE49-F238E27FC236}">
                <a16:creationId xmlns:a16="http://schemas.microsoft.com/office/drawing/2014/main" id="{5625C994-C8B9-41AB-8285-66D0016831E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906165D-EDA6-4378-9333-DCA63E4C44E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731F872-3A93-40C4-8D47-FB2AF6E4D620}" type="slidenum">
              <a:rPr lang="en-US" smtClean="0"/>
              <a:t>‹#›</a:t>
            </a:fld>
            <a:endParaRPr lang="en-US"/>
          </a:p>
        </p:txBody>
      </p:sp>
    </p:spTree>
    <p:extLst>
      <p:ext uri="{BB962C8B-B14F-4D97-AF65-F5344CB8AC3E}">
        <p14:creationId xmlns:p14="http://schemas.microsoft.com/office/powerpoint/2010/main" val="264866597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46B5E7-5914-46DF-85A8-EF1878587CCC}" type="datetimeFigureOut">
              <a:rPr lang="en-US" smtClean="0"/>
              <a:t>5/6/26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D1EDB5-B54C-40F7-AED3-6FEDBDE3068F}" type="slidenum">
              <a:rPr lang="en-US" smtClean="0"/>
              <a:t>‹#›</a:t>
            </a:fld>
            <a:endParaRPr lang="en-US"/>
          </a:p>
        </p:txBody>
      </p:sp>
    </p:spTree>
    <p:extLst>
      <p:ext uri="{BB962C8B-B14F-4D97-AF65-F5344CB8AC3E}">
        <p14:creationId xmlns:p14="http://schemas.microsoft.com/office/powerpoint/2010/main" val="27563264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1" dirty="0"/>
              <a:t>- So, Nexus is a community platform—like Reddit—but designed to bridge fragmented social discussions and bring high-quality information into one place.</a:t>
            </a:r>
            <a:endParaRPr lang="en-US" dirty="0"/>
          </a:p>
          <a:p>
            <a:r>
              <a:rPr lang="en-US" b="1" dirty="0"/>
              <a:t>- The idea is simple:</a:t>
            </a:r>
            <a:r>
              <a:rPr lang="en-US" dirty="0"/>
              <a:t> instead of scattered conversations across the internet, Nexus helps users find meaningful discussions in a structured way.</a:t>
            </a:r>
          </a:p>
          <a:p>
            <a:r>
              <a:rPr lang="en-US" dirty="0"/>
              <a:t>- Users can </a:t>
            </a:r>
            <a:r>
              <a:rPr lang="en-US" b="1" dirty="0"/>
              <a:t>join or create communities</a:t>
            </a:r>
            <a:r>
              <a:rPr lang="en-US" dirty="0"/>
              <a:t> on almost any topic like business, entertainment, health, science, sports, technology, gaming, or even very niche interests like MacBooks or travel.</a:t>
            </a:r>
          </a:p>
          <a:p>
            <a:r>
              <a:rPr lang="en-US" dirty="0"/>
              <a:t>- Now, what makes Nexus interesting is the </a:t>
            </a:r>
            <a:r>
              <a:rPr lang="en-US" b="1" dirty="0"/>
              <a:t>personalization from the start.</a:t>
            </a:r>
            <a:br>
              <a:rPr lang="en-US" dirty="0"/>
            </a:br>
            <a:r>
              <a:rPr lang="en-US" dirty="0"/>
              <a:t>- When users first log in, they can filter what they want to see like selecting or removing topics such as creative design or retro content, so their dashboard feels relevant immediately.</a:t>
            </a:r>
          </a:p>
          <a:p>
            <a:endParaRPr lang="en-US" dirty="0"/>
          </a:p>
          <a:p>
            <a:r>
              <a:rPr lang="en-US" b="1" u="sng" dirty="0"/>
              <a:t>In terms of features, Nexus allows users to:</a:t>
            </a:r>
          </a:p>
          <a:p>
            <a:r>
              <a:rPr lang="en-US" dirty="0"/>
              <a:t>- Like or dislike posts and comments </a:t>
            </a:r>
          </a:p>
          <a:p>
            <a:r>
              <a:rPr lang="en-US" dirty="0"/>
              <a:t>- Engage in threaded discussions </a:t>
            </a:r>
          </a:p>
          <a:p>
            <a:r>
              <a:rPr lang="en-US" dirty="0"/>
              <a:t>- Share posts easily </a:t>
            </a:r>
          </a:p>
          <a:p>
            <a:r>
              <a:rPr lang="en-US" dirty="0"/>
              <a:t>- Bookmark content using something called </a:t>
            </a:r>
            <a:r>
              <a:rPr lang="en-US" i="1" dirty="0"/>
              <a:t>Recaps</a:t>
            </a:r>
            <a:r>
              <a:rPr lang="en-US" dirty="0"/>
              <a:t> for quick access later </a:t>
            </a:r>
          </a:p>
          <a:p>
            <a:r>
              <a:rPr lang="en-US" dirty="0"/>
              <a:t>- And search directly from the main feed </a:t>
            </a:r>
          </a:p>
          <a:p>
            <a:endParaRPr lang="en-US" dirty="0"/>
          </a:p>
          <a:p>
            <a:r>
              <a:rPr lang="en-US" dirty="0"/>
              <a:t>- The platform is built around a </a:t>
            </a:r>
            <a:r>
              <a:rPr lang="en-US" b="1" dirty="0"/>
              <a:t>community-based feed</a:t>
            </a:r>
            <a:r>
              <a:rPr lang="en-US" dirty="0"/>
              <a:t>, so users can actively participate across multiple communities instead of being limited to one space.</a:t>
            </a:r>
          </a:p>
          <a:p>
            <a:r>
              <a:rPr lang="en-US" dirty="0"/>
              <a:t>- From a technical perspective, the backend is powered by Firebase.</a:t>
            </a:r>
            <a:br>
              <a:rPr lang="en-US" dirty="0"/>
            </a:br>
            <a:r>
              <a:rPr lang="en-US" dirty="0"/>
              <a:t>- We use </a:t>
            </a:r>
            <a:r>
              <a:rPr lang="en-US" b="1" dirty="0"/>
              <a:t>Firebase Authentication</a:t>
            </a:r>
            <a:r>
              <a:rPr lang="en-US" dirty="0"/>
              <a:t> for managing user login and identity, and </a:t>
            </a:r>
            <a:r>
              <a:rPr lang="en-US" b="1" dirty="0"/>
              <a:t>Cloud Firestore</a:t>
            </a:r>
            <a:r>
              <a:rPr lang="en-US" dirty="0"/>
              <a:t>, which is a NoSQL database, to handle data like users, posts, likes, and comments efficiently.</a:t>
            </a:r>
          </a:p>
          <a:p>
            <a:endParaRPr lang="en-US" b="1" dirty="0"/>
          </a:p>
          <a:p>
            <a:r>
              <a:rPr lang="en-US" b="1" dirty="0"/>
              <a:t>Overall, Nexus is about cutting through noise and helping people engage in more meaningful, organized discussions online.”</a:t>
            </a:r>
            <a:endParaRPr lang="en-US" dirty="0"/>
          </a:p>
        </p:txBody>
      </p:sp>
      <p:sp>
        <p:nvSpPr>
          <p:cNvPr id="4" name="Slide Number Placeholder 3"/>
          <p:cNvSpPr>
            <a:spLocks noGrp="1"/>
          </p:cNvSpPr>
          <p:nvPr>
            <p:ph type="sldNum" sz="quarter" idx="5"/>
          </p:nvPr>
        </p:nvSpPr>
        <p:spPr/>
        <p:txBody>
          <a:bodyPr/>
          <a:lstStyle/>
          <a:p>
            <a:fld id="{57D1EDB5-B54C-40F7-AED3-6FEDBDE3068F}" type="slidenum">
              <a:rPr lang="en-US" smtClean="0"/>
              <a:t>2</a:t>
            </a:fld>
            <a:endParaRPr lang="en-US"/>
          </a:p>
        </p:txBody>
      </p:sp>
    </p:spTree>
    <p:extLst>
      <p:ext uri="{BB962C8B-B14F-4D97-AF65-F5344CB8AC3E}">
        <p14:creationId xmlns:p14="http://schemas.microsoft.com/office/powerpoint/2010/main" val="9077502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Here is how the diagram specifically aligns with your project's code:</a:t>
            </a:r>
          </a:p>
          <a:p>
            <a:endParaRPr lang="en-US" dirty="0"/>
          </a:p>
          <a:p>
            <a:r>
              <a:rPr lang="en-US" b="1" u="sng" dirty="0"/>
              <a:t>1. Entry and Authentication (The Left Side)</a:t>
            </a:r>
          </a:p>
          <a:p>
            <a:r>
              <a:rPr lang="en-US" dirty="0"/>
              <a:t>- </a:t>
            </a:r>
            <a:r>
              <a:rPr lang="en-US" b="1" u="sng" dirty="0"/>
              <a:t>Splash Screen/Start</a:t>
            </a:r>
            <a:r>
              <a:rPr lang="en-US" dirty="0"/>
              <a:t>: This is your MainActivity. It doesn't just show a logo; it acts as the logic gate (the "Registered User?" diamond) to decide whether to send the user to LoginActivity or SignupActivity.</a:t>
            </a:r>
          </a:p>
          <a:p>
            <a:r>
              <a:rPr lang="en-US" dirty="0"/>
              <a:t>- </a:t>
            </a:r>
            <a:r>
              <a:rPr lang="en-US" b="1" u="sng" dirty="0"/>
              <a:t>Fetch Communities</a:t>
            </a:r>
            <a:r>
              <a:rPr lang="en-US" dirty="0"/>
              <a:t>: This perfectly represents CustomizeFeedActivity, which is the first destination after a successful login or signup.</a:t>
            </a:r>
          </a:p>
          <a:p>
            <a:endParaRPr lang="en-US" dirty="0"/>
          </a:p>
          <a:p>
            <a:r>
              <a:rPr lang="en-US" b="1" u="sng" dirty="0"/>
              <a:t>2. User Action Hub - Preferences (The Top Center)</a:t>
            </a:r>
          </a:p>
          <a:p>
            <a:r>
              <a:rPr lang="en-US" dirty="0"/>
              <a:t>- </a:t>
            </a:r>
            <a:r>
              <a:rPr lang="en-US" b="1" u="sng" dirty="0"/>
              <a:t>Search/Engagement</a:t>
            </a:r>
            <a:r>
              <a:rPr lang="en-US" dirty="0"/>
              <a:t>: Your CustomizeFeedActivity includes a search bar for communities and an adapter that tracks "Engagement" (selections).</a:t>
            </a:r>
          </a:p>
          <a:p>
            <a:r>
              <a:rPr lang="en-US" dirty="0"/>
              <a:t>- </a:t>
            </a:r>
            <a:r>
              <a:rPr lang="en-US" b="1" u="sng" dirty="0"/>
              <a:t>Saved Prefs</a:t>
            </a:r>
            <a:r>
              <a:rPr lang="en-US" dirty="0"/>
              <a:t>: The code in CustomizeFeedActivity.saveSelection() merges the selected community IDs into the Firebase user document, matching the "Selected -&gt; Saved" flow.</a:t>
            </a:r>
          </a:p>
          <a:p>
            <a:endParaRPr lang="en-US" dirty="0"/>
          </a:p>
          <a:p>
            <a:r>
              <a:rPr lang="en-US" b="1" u="sng" dirty="0"/>
              <a:t>3. The Dashboard Hub (The Blue Center)</a:t>
            </a:r>
          </a:p>
          <a:p>
            <a:r>
              <a:rPr lang="en-US" dirty="0"/>
              <a:t>- </a:t>
            </a:r>
            <a:r>
              <a:rPr lang="en-US" b="1" u="sng" dirty="0"/>
              <a:t>Feed Fetch</a:t>
            </a:r>
            <a:r>
              <a:rPr lang="en-US" dirty="0"/>
              <a:t>: DashboardActivity.loadUserFeed() fetches posts specifically from the IDs stored in the user's profile.</a:t>
            </a:r>
          </a:p>
          <a:p>
            <a:r>
              <a:rPr lang="en-US" dirty="0"/>
              <a:t>- </a:t>
            </a:r>
            <a:r>
              <a:rPr lang="en-US" b="1" u="sng" dirty="0"/>
              <a:t>Real-time Updates</a:t>
            </a:r>
            <a:r>
              <a:rPr lang="en-US" dirty="0"/>
              <a:t>: Your fetchPosts method uses addSnapshotListener, which exactly matches the "Real-time feed updates" box.</a:t>
            </a:r>
          </a:p>
          <a:p>
            <a:r>
              <a:rPr lang="en-US" b="1" u="sng" dirty="0"/>
              <a:t>- Action Hub (Bottom Diamond)</a:t>
            </a:r>
            <a:r>
              <a:rPr lang="en-US" dirty="0"/>
              <a:t>: This matches your DashboardActivity UI, which contains the Date Filter button, the Search bar, and the Bookmarks toggle.</a:t>
            </a:r>
          </a:p>
          <a:p>
            <a:endParaRPr lang="en-US" dirty="0"/>
          </a:p>
          <a:p>
            <a:r>
              <a:rPr lang="en-US" b="1" u="sng" dirty="0"/>
              <a:t>4. Creation Logic (The Center Column)</a:t>
            </a:r>
          </a:p>
          <a:p>
            <a:r>
              <a:rPr lang="en-US" dirty="0"/>
              <a:t>- </a:t>
            </a:r>
            <a:r>
              <a:rPr lang="en-US" b="1" u="sng" dirty="0"/>
              <a:t>Click FAB (+): </a:t>
            </a:r>
            <a:r>
              <a:rPr lang="en-US" dirty="0"/>
              <a:t>Your DashboardActivity has a FloatingActionButton that opens showCreateOptions().</a:t>
            </a:r>
          </a:p>
          <a:p>
            <a:r>
              <a:rPr lang="en-US" dirty="0"/>
              <a:t>-  </a:t>
            </a:r>
            <a:r>
              <a:rPr lang="en-US" b="1" u="sng" dirty="0"/>
              <a:t>Option</a:t>
            </a:r>
            <a:r>
              <a:rPr lang="en-US" dirty="0"/>
              <a:t>: This is your dialog_select_option.xml.</a:t>
            </a:r>
          </a:p>
          <a:p>
            <a:r>
              <a:rPr lang="en-US" b="1" u="sng" dirty="0"/>
              <a:t>- Create Post / Community</a:t>
            </a:r>
            <a:r>
              <a:rPr lang="en-US" dirty="0"/>
              <a:t>: These map to dialog_create_post.xml and dialog_create_community.xml.</a:t>
            </a:r>
          </a:p>
          <a:p>
            <a:endParaRPr lang="en-US" dirty="0"/>
          </a:p>
          <a:p>
            <a:r>
              <a:rPr lang="en-US" b="1" u="sng" dirty="0"/>
              <a:t>5. Post Detail &amp; Interaction (The Right Side)</a:t>
            </a:r>
            <a:endParaRPr lang="en-US" dirty="0"/>
          </a:p>
          <a:p>
            <a:r>
              <a:rPr lang="en-US" dirty="0"/>
              <a:t>- </a:t>
            </a:r>
            <a:r>
              <a:rPr lang="en-US" b="1" u="sng" dirty="0"/>
              <a:t>Post Detail (Detail Activity)</a:t>
            </a:r>
            <a:r>
              <a:rPr lang="en-US" dirty="0"/>
              <a:t>: Matches PostDetailActivity.</a:t>
            </a:r>
          </a:p>
          <a:p>
            <a:r>
              <a:rPr lang="en-US" dirty="0"/>
              <a:t>- </a:t>
            </a:r>
            <a:r>
              <a:rPr lang="en-US" b="1" u="sng" dirty="0"/>
              <a:t>Up/Down Vote, Bookmark, Share, Comment</a:t>
            </a:r>
            <a:r>
              <a:rPr lang="en-US" dirty="0"/>
              <a:t>: All these actions are explicitly implemented in PostDetailActivity.java.</a:t>
            </a:r>
          </a:p>
          <a:p>
            <a:r>
              <a:rPr lang="en-US" dirty="0"/>
              <a:t>- </a:t>
            </a:r>
            <a:r>
              <a:rPr lang="en-US" b="1" u="sng" dirty="0"/>
              <a:t>Dashboard Interactions</a:t>
            </a:r>
            <a:r>
              <a:rPr lang="en-US" dirty="0"/>
              <a:t>: Note that your FeedAdapter also allows for some "Post Interactions" (like clicking to view) directly from the dashboard.</a:t>
            </a:r>
          </a:p>
          <a:p>
            <a:endParaRPr lang="en-US" dirty="0"/>
          </a:p>
          <a:p>
            <a:r>
              <a:rPr lang="en-US" b="1" u="sng" dirty="0"/>
              <a:t>6. Profile &amp; Session Management (The Green Boxes)</a:t>
            </a:r>
            <a:endParaRPr lang="en-US" dirty="0"/>
          </a:p>
          <a:p>
            <a:r>
              <a:rPr lang="en-US" dirty="0"/>
              <a:t>- </a:t>
            </a:r>
            <a:r>
              <a:rPr lang="en-US" b="1" u="sng" dirty="0"/>
              <a:t>Open Profile Dialog</a:t>
            </a:r>
            <a:r>
              <a:rPr lang="en-US" dirty="0"/>
              <a:t>: Both CustomizeFeedActivity and DashboardActivity have a btnUserProfile that triggers showUserProfileDialog().</a:t>
            </a:r>
          </a:p>
          <a:p>
            <a:r>
              <a:rPr lang="en-US" dirty="0"/>
              <a:t>- </a:t>
            </a:r>
            <a:r>
              <a:rPr lang="en-US" b="1" u="sng" dirty="0"/>
              <a:t>Logout/End</a:t>
            </a:r>
            <a:r>
              <a:rPr lang="en-US" dirty="0"/>
              <a:t>: The btnLogout in that dialog executes FirebaseAuth.getInstance().signOut() and kills the activity task.</a:t>
            </a:r>
          </a:p>
          <a:p>
            <a:endParaRPr lang="en-US" dirty="0"/>
          </a:p>
        </p:txBody>
      </p:sp>
      <p:sp>
        <p:nvSpPr>
          <p:cNvPr id="4" name="Slide Number Placeholder 3"/>
          <p:cNvSpPr>
            <a:spLocks noGrp="1"/>
          </p:cNvSpPr>
          <p:nvPr>
            <p:ph type="sldNum" sz="quarter" idx="5"/>
          </p:nvPr>
        </p:nvSpPr>
        <p:spPr/>
        <p:txBody>
          <a:bodyPr/>
          <a:lstStyle/>
          <a:p>
            <a:fld id="{57D1EDB5-B54C-40F7-AED3-6FEDBDE3068F}" type="slidenum">
              <a:rPr lang="en-US" smtClean="0"/>
              <a:t>3</a:t>
            </a:fld>
            <a:endParaRPr lang="en-US"/>
          </a:p>
        </p:txBody>
      </p:sp>
    </p:spTree>
    <p:extLst>
      <p:ext uri="{BB962C8B-B14F-4D97-AF65-F5344CB8AC3E}">
        <p14:creationId xmlns:p14="http://schemas.microsoft.com/office/powerpoint/2010/main" val="7884199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1" dirty="0"/>
              <a:t>- “Currently, Nexus focuses on building a strong core experience.</a:t>
            </a:r>
            <a:br>
              <a:rPr lang="en-US" dirty="0"/>
            </a:br>
            <a:r>
              <a:rPr lang="en-US" dirty="0"/>
              <a:t>- We’ve implemented a like and dislike system that stores individual user reactions, which can later be used for AI-based insights and summarization.</a:t>
            </a:r>
          </a:p>
          <a:p>
            <a:r>
              <a:rPr lang="en-US" dirty="0"/>
              <a:t>- The comment system supports threaded discussions, along with likes on each comment, making conversations more interactive and structured.</a:t>
            </a:r>
          </a:p>
          <a:p>
            <a:r>
              <a:rPr lang="en-US" dirty="0"/>
              <a:t>- Right now, the app is deployed locally on localhost for development and testing, so there’s no dependency on external servers yet.</a:t>
            </a:r>
          </a:p>
          <a:p>
            <a:r>
              <a:rPr lang="en-US" dirty="0"/>
              <a:t>- We’re also putting a strong emphasis on UI design—continuously refining the interface to ensure it’s clean, intuitive, and user-friendly.</a:t>
            </a:r>
            <a:br>
              <a:rPr lang="en-US" dirty="0"/>
            </a:br>
            <a:r>
              <a:rPr lang="en-US" dirty="0"/>
              <a:t>- Additionally, we’ve selected a lightweight emulator optimized for smooth performance, especially on a 2020 MacBook.</a:t>
            </a:r>
          </a:p>
          <a:p>
            <a:endParaRPr lang="en-US" b="1" dirty="0"/>
          </a:p>
          <a:p>
            <a:r>
              <a:rPr lang="en-US" b="1" dirty="0"/>
              <a:t>Looking ahead, there are a few key improvements planned.</a:t>
            </a:r>
            <a:br>
              <a:rPr lang="en-US" dirty="0"/>
            </a:br>
            <a:r>
              <a:rPr lang="en-US" dirty="0"/>
              <a:t>- We aim to move toward live deployment so we can gather real user feedback and improve based on actual usage.</a:t>
            </a:r>
          </a:p>
          <a:p>
            <a:r>
              <a:rPr lang="en-US" dirty="0"/>
              <a:t>- We also plan to optimize performance further by integrating native libraries for faster and more efficient execution.</a:t>
            </a:r>
          </a:p>
          <a:p>
            <a:r>
              <a:rPr lang="en-US" dirty="0"/>
              <a:t>- And finally, we’re working on a complete UI revamp—bringing in a more modern, polished design inspired by platforms like Reddit to enhance the overall user experience.</a:t>
            </a:r>
          </a:p>
          <a:p>
            <a:endParaRPr lang="en-US" b="1" dirty="0"/>
          </a:p>
          <a:p>
            <a:r>
              <a:rPr lang="en-US" b="1" dirty="0"/>
              <a:t>Overall, the goal is to evolve Nexus from a functional prototype into a scalable, user-driven platform.”</a:t>
            </a:r>
            <a:endParaRPr lang="en-US" dirty="0"/>
          </a:p>
          <a:p>
            <a:endParaRPr lang="en-US" dirty="0"/>
          </a:p>
        </p:txBody>
      </p:sp>
      <p:sp>
        <p:nvSpPr>
          <p:cNvPr id="4" name="Slide Number Placeholder 3"/>
          <p:cNvSpPr>
            <a:spLocks noGrp="1"/>
          </p:cNvSpPr>
          <p:nvPr>
            <p:ph type="sldNum" sz="quarter" idx="5"/>
          </p:nvPr>
        </p:nvSpPr>
        <p:spPr/>
        <p:txBody>
          <a:bodyPr/>
          <a:lstStyle/>
          <a:p>
            <a:fld id="{57D1EDB5-B54C-40F7-AED3-6FEDBDE3068F}" type="slidenum">
              <a:rPr lang="en-US" smtClean="0"/>
              <a:t>9</a:t>
            </a:fld>
            <a:endParaRPr lang="en-US"/>
          </a:p>
        </p:txBody>
      </p:sp>
    </p:spTree>
    <p:extLst>
      <p:ext uri="{BB962C8B-B14F-4D97-AF65-F5344CB8AC3E}">
        <p14:creationId xmlns:p14="http://schemas.microsoft.com/office/powerpoint/2010/main" val="17710794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113CC-7875-4F05-B815-54E7DAAA6A80}"/>
              </a:ext>
            </a:extLst>
          </p:cNvPr>
          <p:cNvSpPr>
            <a:spLocks noGrp="1"/>
          </p:cNvSpPr>
          <p:nvPr>
            <p:ph type="title"/>
          </p:nvPr>
        </p:nvSpPr>
        <p:spPr/>
        <p:txBody>
          <a:bodyPr/>
          <a:lstStyle/>
          <a:p>
            <a:r>
              <a:rPr lang="en-US"/>
              <a:t>Click to edit Master title style</a:t>
            </a:r>
            <a:endParaRPr lang="ru-RU"/>
          </a:p>
        </p:txBody>
      </p:sp>
      <p:sp>
        <p:nvSpPr>
          <p:cNvPr id="3" name="Content Placeholder 2">
            <a:extLst>
              <a:ext uri="{FF2B5EF4-FFF2-40B4-BE49-F238E27FC236}">
                <a16:creationId xmlns:a16="http://schemas.microsoft.com/office/drawing/2014/main" id="{ABB25AB9-E299-4AB1-A2B0-EB80E50F95C9}"/>
              </a:ext>
            </a:extLst>
          </p:cNvPr>
          <p:cNvSpPr>
            <a:spLocks noGrp="1"/>
          </p:cNvSpPr>
          <p:nvPr>
            <p:ph idx="1"/>
          </p:nvPr>
        </p:nvSpPr>
        <p:spPr>
          <a:xfrm>
            <a:off x="838198" y="1825625"/>
            <a:ext cx="10515601"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dirty="0"/>
          </a:p>
        </p:txBody>
      </p:sp>
      <p:sp>
        <p:nvSpPr>
          <p:cNvPr id="4" name="Date Placeholder 3">
            <a:extLst>
              <a:ext uri="{FF2B5EF4-FFF2-40B4-BE49-F238E27FC236}">
                <a16:creationId xmlns:a16="http://schemas.microsoft.com/office/drawing/2014/main" id="{B8F682E1-71F1-43FC-9C45-FBCB64B57EAE}"/>
              </a:ext>
            </a:extLst>
          </p:cNvPr>
          <p:cNvSpPr>
            <a:spLocks noGrp="1"/>
          </p:cNvSpPr>
          <p:nvPr>
            <p:ph type="dt" sz="half" idx="10"/>
          </p:nvPr>
        </p:nvSpPr>
        <p:spPr/>
        <p:txBody>
          <a:bodyPr/>
          <a:lstStyle/>
          <a:p>
            <a:fld id="{A8FC353A-A497-4FE5-BFA6-2FC0A50C3DBA}" type="datetimeFigureOut">
              <a:rPr lang="en-US" noProof="0" smtClean="0"/>
              <a:t>5/6/26</a:t>
            </a:fld>
            <a:endParaRPr lang="en-US" noProof="0"/>
          </a:p>
        </p:txBody>
      </p:sp>
      <p:sp>
        <p:nvSpPr>
          <p:cNvPr id="5" name="Footer Placeholder 4">
            <a:extLst>
              <a:ext uri="{FF2B5EF4-FFF2-40B4-BE49-F238E27FC236}">
                <a16:creationId xmlns:a16="http://schemas.microsoft.com/office/drawing/2014/main" id="{14FDD2E0-D7DC-4BEF-A3A0-6DB5E16D902A}"/>
              </a:ext>
            </a:extLst>
          </p:cNvPr>
          <p:cNvSpPr>
            <a:spLocks noGrp="1"/>
          </p:cNvSpPr>
          <p:nvPr>
            <p:ph type="ftr" sz="quarter" idx="11"/>
          </p:nvPr>
        </p:nvSpPr>
        <p:spPr/>
        <p:txBody>
          <a:bodyPr/>
          <a:lstStyle/>
          <a:p>
            <a:endParaRPr lang="en-US" noProof="0" dirty="0"/>
          </a:p>
        </p:txBody>
      </p:sp>
      <p:sp>
        <p:nvSpPr>
          <p:cNvPr id="6" name="Slide Number Placeholder 5">
            <a:extLst>
              <a:ext uri="{FF2B5EF4-FFF2-40B4-BE49-F238E27FC236}">
                <a16:creationId xmlns:a16="http://schemas.microsoft.com/office/drawing/2014/main" id="{D5251739-427E-47C0-B7B5-39F607DBFE4C}"/>
              </a:ext>
            </a:extLst>
          </p:cNvPr>
          <p:cNvSpPr>
            <a:spLocks noGrp="1"/>
          </p:cNvSpPr>
          <p:nvPr>
            <p:ph type="sldNum" sz="quarter" idx="12"/>
          </p:nvPr>
        </p:nvSpPr>
        <p:spPr/>
        <p:txBody>
          <a:bodyPr/>
          <a:lstStyle/>
          <a:p>
            <a:fld id="{C63AC632-CBE0-46E5-90EF-472F97772B7E}" type="slidenum">
              <a:rPr lang="en-US" noProof="0" smtClean="0"/>
              <a:t>‹#›</a:t>
            </a:fld>
            <a:endParaRPr lang="en-US" noProof="0" dirty="0"/>
          </a:p>
        </p:txBody>
      </p:sp>
    </p:spTree>
    <p:extLst>
      <p:ext uri="{BB962C8B-B14F-4D97-AF65-F5344CB8AC3E}">
        <p14:creationId xmlns:p14="http://schemas.microsoft.com/office/powerpoint/2010/main" val="3153101467"/>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DF92E8F-54AB-46D3-88CF-E717BC212C8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130E8A0-AA93-4D38-81C5-EC63E1EC39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C4FE646-8520-427D-ACD3-69976EEBF7A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9F822C-F838-414C-BE88-4C36BDF8A5E0}" type="datetimeFigureOut">
              <a:rPr lang="en-US" smtClean="0"/>
              <a:t>5/6/26</a:t>
            </a:fld>
            <a:endParaRPr lang="en-US"/>
          </a:p>
        </p:txBody>
      </p:sp>
      <p:sp>
        <p:nvSpPr>
          <p:cNvPr id="5" name="Footer Placeholder 4">
            <a:extLst>
              <a:ext uri="{FF2B5EF4-FFF2-40B4-BE49-F238E27FC236}">
                <a16:creationId xmlns:a16="http://schemas.microsoft.com/office/drawing/2014/main" id="{2705FDAB-3FCC-421B-B8DF-073DEE2E261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CD8FBED1-D092-4841-B651-580D34D5510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D35DBF2-A8CF-448E-B167-C826703D0B69}" type="slidenum">
              <a:rPr lang="en-US" smtClean="0"/>
              <a:t>‹#›</a:t>
            </a:fld>
            <a:endParaRPr lang="en-US" dirty="0"/>
          </a:p>
        </p:txBody>
      </p:sp>
    </p:spTree>
    <p:extLst>
      <p:ext uri="{BB962C8B-B14F-4D97-AF65-F5344CB8AC3E}">
        <p14:creationId xmlns:p14="http://schemas.microsoft.com/office/powerpoint/2010/main" val="3983112195"/>
      </p:ext>
    </p:extLst>
  </p:cSld>
  <p:clrMap bg1="lt1" tx1="dk1" bg2="lt2" tx2="dk2" accent1="accent1" accent2="accent2" accent3="accent3" accent4="accent4" accent5="accent5" accent6="accent6" hlink="hlink" folHlink="folHlink"/>
  <p:sldLayoutIdLst>
    <p:sldLayoutId id="214748365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png"/><Relationship Id="rId3" Type="http://schemas.openxmlformats.org/officeDocument/2006/relationships/image" Target="../media/image14.png"/><Relationship Id="rId7" Type="http://schemas.openxmlformats.org/officeDocument/2006/relationships/image" Target="../media/image18.png"/><Relationship Id="rId12" Type="http://schemas.openxmlformats.org/officeDocument/2006/relationships/image" Target="../media/image23.png"/><Relationship Id="rId2" Type="http://schemas.openxmlformats.org/officeDocument/2006/relationships/image" Target="../media/image13.png"/><Relationship Id="rId1" Type="http://schemas.openxmlformats.org/officeDocument/2006/relationships/slideLayout" Target="../slideLayouts/slideLayout1.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5" Type="http://schemas.openxmlformats.org/officeDocument/2006/relationships/image" Target="../media/image2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 Id="rId14" Type="http://schemas.openxmlformats.org/officeDocument/2006/relationships/image" Target="../media/image25.png"/></Relationships>
</file>

<file path=ppt/slides/_rels/slide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389F6E5-B39C-4C4A-9E5D-25FBF30DD906}"/>
              </a:ext>
            </a:extLst>
          </p:cNvPr>
          <p:cNvSpPr>
            <a:spLocks noGrp="1"/>
          </p:cNvSpPr>
          <p:nvPr>
            <p:ph type="title"/>
          </p:nvPr>
        </p:nvSpPr>
        <p:spPr>
          <a:xfrm>
            <a:off x="838200" y="365125"/>
            <a:ext cx="10515600" cy="1325563"/>
          </a:xfrm>
        </p:spPr>
        <p:txBody>
          <a:bodyPr>
            <a:normAutofit fontScale="90000"/>
          </a:bodyPr>
          <a:lstStyle/>
          <a:p>
            <a:pPr>
              <a:lnSpc>
                <a:spcPct val="100000"/>
              </a:lnSpc>
            </a:pPr>
            <a:r>
              <a:rPr lang="en-US" sz="4200" b="1" u="sng" dirty="0">
                <a:highlight>
                  <a:srgbClr val="FFFF00"/>
                </a:highlight>
                <a:latin typeface="Times New Roman" panose="02020603050405020304" pitchFamily="18" charset="0"/>
                <a:cs typeface="Times New Roman" panose="02020603050405020304" pitchFamily="18" charset="0"/>
              </a:rPr>
              <a:t>Final Project</a:t>
            </a:r>
            <a:r>
              <a:rPr lang="en-US" sz="4200" b="1" dirty="0">
                <a:latin typeface="Times New Roman" panose="02020603050405020304" pitchFamily="18" charset="0"/>
                <a:cs typeface="Times New Roman" panose="02020603050405020304" pitchFamily="18" charset="0"/>
              </a:rPr>
              <a:t>:</a:t>
            </a:r>
            <a:br>
              <a:rPr lang="en-US" sz="4200" b="1" dirty="0">
                <a:latin typeface="Times New Roman" panose="02020603050405020304" pitchFamily="18" charset="0"/>
                <a:cs typeface="Times New Roman" panose="02020603050405020304" pitchFamily="18" charset="0"/>
              </a:rPr>
            </a:br>
            <a:r>
              <a:rPr lang="en-US" sz="4200" b="1" dirty="0">
                <a:latin typeface="Times New Roman" panose="02020603050405020304" pitchFamily="18" charset="0"/>
                <a:cs typeface="Times New Roman" panose="02020603050405020304" pitchFamily="18" charset="0"/>
              </a:rPr>
              <a:t>Nexus (i.e., Reddit-like platform) </a:t>
            </a:r>
            <a:endParaRPr lang="ru-RU" sz="4200" b="1" dirty="0">
              <a:latin typeface="Times New Roman" panose="02020603050405020304" pitchFamily="18" charset="0"/>
              <a:cs typeface="Times New Roman" panose="02020603050405020304" pitchFamily="18" charset="0"/>
            </a:endParaRPr>
          </a:p>
        </p:txBody>
      </p:sp>
      <p:sp>
        <p:nvSpPr>
          <p:cNvPr id="26"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4">
            <a:extLst>
              <a:ext uri="{FF2B5EF4-FFF2-40B4-BE49-F238E27FC236}">
                <a16:creationId xmlns:a16="http://schemas.microsoft.com/office/drawing/2014/main" id="{1C71B723-A7EF-8D90-68E1-9CF3320ADEA4}"/>
              </a:ext>
            </a:extLst>
          </p:cNvPr>
          <p:cNvSpPr>
            <a:spLocks noGrp="1"/>
          </p:cNvSpPr>
          <p:nvPr>
            <p:ph idx="1"/>
          </p:nvPr>
        </p:nvSpPr>
        <p:spPr>
          <a:xfrm>
            <a:off x="838200" y="1929384"/>
            <a:ext cx="10515600" cy="4251960"/>
          </a:xfrm>
        </p:spPr>
        <p:txBody>
          <a:bodyPr>
            <a:normAutofit/>
          </a:bodyPr>
          <a:lstStyle/>
          <a:p>
            <a:pPr marL="457200" lvl="1" indent="0">
              <a:buNone/>
            </a:pPr>
            <a:endParaRPr lang="en-US" sz="2200" dirty="0">
              <a:latin typeface="Times New Roman" panose="02020603050405020304" pitchFamily="18" charset="0"/>
              <a:cs typeface="Times New Roman" panose="02020603050405020304" pitchFamily="18" charset="0"/>
            </a:endParaRPr>
          </a:p>
          <a:p>
            <a:r>
              <a:rPr lang="en-US" sz="2200" b="1" u="sng" dirty="0">
                <a:latin typeface="Times New Roman" panose="02020603050405020304" pitchFamily="18" charset="0"/>
                <a:cs typeface="Times New Roman" panose="02020603050405020304" pitchFamily="18" charset="0"/>
              </a:rPr>
              <a:t>Name</a:t>
            </a:r>
            <a:r>
              <a:rPr lang="en-US" sz="2200" dirty="0">
                <a:latin typeface="Times New Roman" panose="02020603050405020304" pitchFamily="18" charset="0"/>
                <a:cs typeface="Times New Roman" panose="02020603050405020304" pitchFamily="18" charset="0"/>
              </a:rPr>
              <a:t>: Harsh Patel</a:t>
            </a:r>
          </a:p>
          <a:p>
            <a:r>
              <a:rPr lang="en-US" sz="2200" b="1" u="sng" dirty="0">
                <a:latin typeface="Times New Roman" panose="02020603050405020304" pitchFamily="18" charset="0"/>
                <a:cs typeface="Times New Roman" panose="02020603050405020304" pitchFamily="18" charset="0"/>
              </a:rPr>
              <a:t>Hawk ID (A-Number #)</a:t>
            </a:r>
            <a:r>
              <a:rPr lang="en-US" sz="2200" dirty="0">
                <a:latin typeface="Times New Roman" panose="02020603050405020304" pitchFamily="18" charset="0"/>
                <a:cs typeface="Times New Roman" panose="02020603050405020304" pitchFamily="18" charset="0"/>
              </a:rPr>
              <a:t>: A20369913</a:t>
            </a:r>
          </a:p>
          <a:p>
            <a:r>
              <a:rPr lang="en-US" sz="2200" b="1" u="sng" dirty="0">
                <a:latin typeface="Times New Roman" panose="02020603050405020304" pitchFamily="18" charset="0"/>
                <a:cs typeface="Times New Roman" panose="02020603050405020304" pitchFamily="18" charset="0"/>
              </a:rPr>
              <a:t>Subject</a:t>
            </a:r>
            <a:r>
              <a:rPr lang="en-US" sz="2200" dirty="0">
                <a:latin typeface="Times New Roman" panose="02020603050405020304" pitchFamily="18" charset="0"/>
                <a:cs typeface="Times New Roman" panose="02020603050405020304" pitchFamily="18" charset="0"/>
              </a:rPr>
              <a:t>: ITMD 555 Intelligent Device Apps Android</a:t>
            </a:r>
          </a:p>
          <a:p>
            <a:r>
              <a:rPr lang="en-US" sz="2200" b="1" u="sng" dirty="0">
                <a:latin typeface="Times New Roman" panose="02020603050405020304" pitchFamily="18" charset="0"/>
                <a:cs typeface="Times New Roman" panose="02020603050405020304" pitchFamily="18" charset="0"/>
              </a:rPr>
              <a:t>Professor</a:t>
            </a:r>
            <a:r>
              <a:rPr lang="en-US" sz="2200" dirty="0">
                <a:latin typeface="Times New Roman" panose="02020603050405020304" pitchFamily="18" charset="0"/>
                <a:cs typeface="Times New Roman" panose="02020603050405020304" pitchFamily="18" charset="0"/>
              </a:rPr>
              <a:t>: James Papademas</a:t>
            </a:r>
          </a:p>
          <a:p>
            <a:r>
              <a:rPr lang="en-US" sz="2200" b="1" u="sng" dirty="0">
                <a:latin typeface="Times New Roman" panose="02020603050405020304" pitchFamily="18" charset="0"/>
                <a:cs typeface="Times New Roman" panose="02020603050405020304" pitchFamily="18" charset="0"/>
              </a:rPr>
              <a:t>Test Emulator</a:t>
            </a:r>
            <a:r>
              <a:rPr lang="en-US" sz="2200" dirty="0">
                <a:latin typeface="Times New Roman" panose="02020603050405020304" pitchFamily="18" charset="0"/>
                <a:cs typeface="Times New Roman" panose="02020603050405020304" pitchFamily="18" charset="0"/>
              </a:rPr>
              <a:t>: Pixel 7 pro API 35</a:t>
            </a:r>
          </a:p>
          <a:p>
            <a:r>
              <a:rPr lang="en-US" sz="2200" b="1" u="sng" dirty="0">
                <a:latin typeface="Times New Roman" panose="02020603050405020304" pitchFamily="18" charset="0"/>
                <a:cs typeface="Times New Roman" panose="02020603050405020304" pitchFamily="18" charset="0"/>
              </a:rPr>
              <a:t>Language</a:t>
            </a:r>
            <a:r>
              <a:rPr lang="en-US" sz="2200" dirty="0">
                <a:latin typeface="Times New Roman" panose="02020603050405020304" pitchFamily="18" charset="0"/>
                <a:cs typeface="Times New Roman" panose="02020603050405020304" pitchFamily="18" charset="0"/>
              </a:rPr>
              <a:t>: Java</a:t>
            </a:r>
          </a:p>
          <a:p>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663688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CB20B86-BA14-74EA-887F-4C6A3F115AAD}"/>
            </a:ext>
          </a:extLst>
        </p:cNvPr>
        <p:cNvGrpSpPr/>
        <p:nvPr/>
      </p:nvGrpSpPr>
      <p:grpSpPr>
        <a:xfrm>
          <a:off x="0" y="0"/>
          <a:ext cx="0" cy="0"/>
          <a:chOff x="0" y="0"/>
          <a:chExt cx="0" cy="0"/>
        </a:xfrm>
      </p:grpSpPr>
      <p:sp useBgFill="1">
        <p:nvSpPr>
          <p:cNvPr id="99" name="Rectangle 98">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29BE74-6F17-2B46-95D4-A90FF25CA284}"/>
              </a:ext>
            </a:extLst>
          </p:cNvPr>
          <p:cNvSpPr>
            <a:spLocks noGrp="1"/>
          </p:cNvSpPr>
          <p:nvPr>
            <p:ph type="title"/>
          </p:nvPr>
        </p:nvSpPr>
        <p:spPr>
          <a:xfrm>
            <a:off x="841248" y="548640"/>
            <a:ext cx="3600860" cy="3368842"/>
          </a:xfrm>
        </p:spPr>
        <p:txBody>
          <a:bodyPr>
            <a:normAutofit/>
          </a:bodyPr>
          <a:lstStyle/>
          <a:p>
            <a:r>
              <a:rPr lang="en-US" sz="4000" b="1" dirty="0">
                <a:latin typeface="Times New Roman" panose="02020603050405020304" pitchFamily="18" charset="0"/>
                <a:cs typeface="Times New Roman" panose="02020603050405020304" pitchFamily="18" charset="0"/>
              </a:rPr>
              <a:t>Understanding the Idea Behind the Project</a:t>
            </a:r>
            <a:endParaRPr lang="ru-RU" sz="4000" b="1" dirty="0">
              <a:latin typeface="Times New Roman" panose="02020603050405020304" pitchFamily="18" charset="0"/>
              <a:cs typeface="Times New Roman" panose="02020603050405020304" pitchFamily="18" charset="0"/>
            </a:endParaRPr>
          </a:p>
        </p:txBody>
      </p:sp>
      <p:sp>
        <p:nvSpPr>
          <p:cNvPr id="101"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Content Placeholder 4">
            <a:extLst>
              <a:ext uri="{FF2B5EF4-FFF2-40B4-BE49-F238E27FC236}">
                <a16:creationId xmlns:a16="http://schemas.microsoft.com/office/drawing/2014/main" id="{2B092B80-61E5-6F8C-CDB9-830A2F39BBFE}"/>
              </a:ext>
            </a:extLst>
          </p:cNvPr>
          <p:cNvSpPr>
            <a:spLocks noGrp="1"/>
          </p:cNvSpPr>
          <p:nvPr>
            <p:ph idx="1"/>
          </p:nvPr>
        </p:nvSpPr>
        <p:spPr>
          <a:xfrm>
            <a:off x="5126418" y="414068"/>
            <a:ext cx="6454717" cy="5917721"/>
          </a:xfrm>
        </p:spPr>
        <p:txBody>
          <a:bodyPr anchor="ctr">
            <a:noAutofit/>
          </a:bodyPr>
          <a:lstStyle/>
          <a:p>
            <a:pPr algn="just"/>
            <a:r>
              <a:rPr lang="en-US" sz="1300" dirty="0">
                <a:latin typeface="Times New Roman" panose="02020603050405020304" pitchFamily="18" charset="0"/>
                <a:cs typeface="Times New Roman" panose="02020603050405020304" pitchFamily="18" charset="0"/>
              </a:rPr>
              <a:t>Nexus is a </a:t>
            </a:r>
            <a:r>
              <a:rPr lang="en-US" sz="1300" b="1" u="sng" dirty="0">
                <a:latin typeface="Times New Roman" panose="02020603050405020304" pitchFamily="18" charset="0"/>
                <a:cs typeface="Times New Roman" panose="02020603050405020304" pitchFamily="18" charset="0"/>
              </a:rPr>
              <a:t>community platform, like Reddit</a:t>
            </a:r>
            <a:r>
              <a:rPr lang="en-US" sz="1300" dirty="0">
                <a:latin typeface="Times New Roman" panose="02020603050405020304" pitchFamily="18" charset="0"/>
                <a:cs typeface="Times New Roman" panose="02020603050405020304" pitchFamily="18" charset="0"/>
              </a:rPr>
              <a:t>, that bridges fragmented social discussions to deliver high-quality information and meaningful discourse.</a:t>
            </a:r>
          </a:p>
          <a:p>
            <a:pPr algn="just"/>
            <a:r>
              <a:rPr lang="en-US" sz="1300" dirty="0">
                <a:latin typeface="Times New Roman" panose="02020603050405020304" pitchFamily="18" charset="0"/>
                <a:cs typeface="Times New Roman" panose="02020603050405020304" pitchFamily="18" charset="0"/>
              </a:rPr>
              <a:t>Users can </a:t>
            </a:r>
            <a:r>
              <a:rPr lang="en-US" sz="1300" b="1" u="sng" dirty="0">
                <a:latin typeface="Times New Roman" panose="02020603050405020304" pitchFamily="18" charset="0"/>
                <a:cs typeface="Times New Roman" panose="02020603050405020304" pitchFamily="18" charset="0"/>
              </a:rPr>
              <a:t>join or start community pages, create posts on any community, and view posts from others</a:t>
            </a:r>
            <a:r>
              <a:rPr lang="en-US" sz="1300" dirty="0">
                <a:latin typeface="Times New Roman" panose="02020603050405020304" pitchFamily="18" charset="0"/>
                <a:cs typeface="Times New Roman" panose="02020603050405020304" pitchFamily="18" charset="0"/>
              </a:rPr>
              <a:t>.</a:t>
            </a:r>
          </a:p>
          <a:p>
            <a:pPr lvl="1" algn="just"/>
            <a:r>
              <a:rPr lang="en-US" sz="1300" dirty="0">
                <a:latin typeface="Times New Roman" panose="02020603050405020304" pitchFamily="18" charset="0"/>
                <a:cs typeface="Times New Roman" panose="02020603050405020304" pitchFamily="18" charset="0"/>
              </a:rPr>
              <a:t>i.e., Business, Entertainment, Health, Science, Sports, Technology, Gaming, Traveling, MacBook, or any random topic, etc.</a:t>
            </a:r>
          </a:p>
          <a:p>
            <a:pPr algn="just"/>
            <a:endParaRPr lang="en-US" sz="1300" b="1" u="sng" dirty="0">
              <a:highlight>
                <a:srgbClr val="FFFF00"/>
              </a:highlight>
              <a:latin typeface="Times New Roman" panose="02020603050405020304" pitchFamily="18" charset="0"/>
              <a:cs typeface="Times New Roman" panose="02020603050405020304" pitchFamily="18" charset="0"/>
            </a:endParaRPr>
          </a:p>
          <a:p>
            <a:pPr algn="just"/>
            <a:r>
              <a:rPr lang="en-US" sz="1300" b="1" u="sng" dirty="0">
                <a:highlight>
                  <a:srgbClr val="FFFF00"/>
                </a:highlight>
                <a:latin typeface="Times New Roman" panose="02020603050405020304" pitchFamily="18" charset="0"/>
                <a:cs typeface="Times New Roman" panose="02020603050405020304" pitchFamily="18" charset="0"/>
              </a:rPr>
              <a:t>Groups</a:t>
            </a:r>
            <a:r>
              <a:rPr lang="en-US" sz="1300" dirty="0">
                <a:latin typeface="Times New Roman" panose="02020603050405020304" pitchFamily="18" charset="0"/>
                <a:cs typeface="Times New Roman" panose="02020603050405020304" pitchFamily="18" charset="0"/>
              </a:rPr>
              <a:t>: Users begin by customizing their post feed through filtration (e.g., select/deselect Creative Design, Retro). This ensures the "Nexus Dashboard" is relevant from the very first login.</a:t>
            </a:r>
          </a:p>
          <a:p>
            <a:pPr algn="just"/>
            <a:endParaRPr lang="en-US" sz="1300" b="1" u="sng" dirty="0">
              <a:highlight>
                <a:srgbClr val="FFFF00"/>
              </a:highlight>
              <a:latin typeface="Times New Roman" panose="02020603050405020304" pitchFamily="18" charset="0"/>
              <a:cs typeface="Times New Roman" panose="02020603050405020304" pitchFamily="18" charset="0"/>
            </a:endParaRPr>
          </a:p>
          <a:p>
            <a:pPr algn="just"/>
            <a:r>
              <a:rPr lang="en-US" sz="1300" b="1" u="sng" dirty="0">
                <a:highlight>
                  <a:srgbClr val="FFFF00"/>
                </a:highlight>
                <a:latin typeface="Times New Roman" panose="02020603050405020304" pitchFamily="18" charset="0"/>
                <a:cs typeface="Times New Roman" panose="02020603050405020304" pitchFamily="18" charset="0"/>
              </a:rPr>
              <a:t>Current Features</a:t>
            </a:r>
            <a:r>
              <a:rPr lang="en-US" sz="1300" dirty="0">
                <a:highlight>
                  <a:srgbClr val="FFFF00"/>
                </a:highlight>
                <a:latin typeface="Times New Roman" panose="02020603050405020304" pitchFamily="18" charset="0"/>
                <a:cs typeface="Times New Roman" panose="02020603050405020304" pitchFamily="18" charset="0"/>
              </a:rPr>
              <a:t>: </a:t>
            </a:r>
          </a:p>
          <a:p>
            <a:pPr lvl="1" algn="just"/>
            <a:r>
              <a:rPr lang="en-US" sz="1300" dirty="0">
                <a:latin typeface="Times New Roman" panose="02020603050405020304" pitchFamily="18" charset="0"/>
                <a:cs typeface="Times New Roman" panose="02020603050405020304" pitchFamily="18" charset="0"/>
              </a:rPr>
              <a:t>Like, dislike (posts/comments), comments (based on threads), and share posts. </a:t>
            </a:r>
          </a:p>
          <a:p>
            <a:pPr lvl="1" algn="just"/>
            <a:r>
              <a:rPr lang="en-US" sz="1300" dirty="0">
                <a:latin typeface="Times New Roman" panose="02020603050405020304" pitchFamily="18" charset="0"/>
                <a:cs typeface="Times New Roman" panose="02020603050405020304" pitchFamily="18" charset="0"/>
              </a:rPr>
              <a:t>Bookmark posts with “Recaps” for quick access later.</a:t>
            </a:r>
          </a:p>
          <a:p>
            <a:pPr lvl="1" algn="just"/>
            <a:r>
              <a:rPr lang="en-US" sz="1300" dirty="0">
                <a:latin typeface="Times New Roman" panose="02020603050405020304" pitchFamily="18" charset="0"/>
                <a:cs typeface="Times New Roman" panose="02020603050405020304" pitchFamily="18" charset="0"/>
              </a:rPr>
              <a:t>Search content directly from the main feed. </a:t>
            </a:r>
          </a:p>
          <a:p>
            <a:pPr lvl="1" algn="just"/>
            <a:r>
              <a:rPr lang="en-US" sz="1300" dirty="0">
                <a:latin typeface="Times New Roman" panose="02020603050405020304" pitchFamily="18" charset="0"/>
                <a:cs typeface="Times New Roman" panose="02020603050405020304" pitchFamily="18" charset="0"/>
              </a:rPr>
              <a:t>Community-based feed with filtering options.</a:t>
            </a:r>
          </a:p>
          <a:p>
            <a:pPr lvl="1" algn="just"/>
            <a:r>
              <a:rPr lang="en-US" sz="1300" dirty="0">
                <a:latin typeface="Times New Roman" panose="02020603050405020304" pitchFamily="18" charset="0"/>
                <a:cs typeface="Times New Roman" panose="02020603050405020304" pitchFamily="18" charset="0"/>
              </a:rPr>
              <a:t>Share posts with other users easily. </a:t>
            </a:r>
          </a:p>
          <a:p>
            <a:pPr lvl="1" algn="just"/>
            <a:r>
              <a:rPr lang="en-US" sz="1300" dirty="0">
                <a:latin typeface="Times New Roman" panose="02020603050405020304" pitchFamily="18" charset="0"/>
                <a:cs typeface="Times New Roman" panose="02020603050405020304" pitchFamily="18" charset="0"/>
              </a:rPr>
              <a:t>Create and engage across multiple communities. </a:t>
            </a:r>
          </a:p>
          <a:p>
            <a:pPr lvl="1" algn="just"/>
            <a:r>
              <a:rPr lang="en-US" sz="1300" dirty="0">
                <a:latin typeface="Times New Roman" panose="02020603050405020304" pitchFamily="18" charset="0"/>
                <a:cs typeface="Times New Roman" panose="02020603050405020304" pitchFamily="18" charset="0"/>
              </a:rPr>
              <a:t>Backend powered by Firebase (NoSQL database).</a:t>
            </a:r>
          </a:p>
          <a:p>
            <a:pPr lvl="1" algn="just"/>
            <a:endParaRPr lang="en-US" sz="1300" dirty="0">
              <a:latin typeface="Times New Roman" panose="02020603050405020304" pitchFamily="18" charset="0"/>
              <a:cs typeface="Times New Roman" panose="02020603050405020304" pitchFamily="18" charset="0"/>
            </a:endParaRPr>
          </a:p>
          <a:p>
            <a:pPr algn="just"/>
            <a:r>
              <a:rPr lang="en-US" sz="1300" b="1" u="sng" dirty="0">
                <a:highlight>
                  <a:srgbClr val="FFFF00"/>
                </a:highlight>
                <a:latin typeface="Times New Roman" panose="02020603050405020304" pitchFamily="18" charset="0"/>
                <a:cs typeface="Times New Roman" panose="02020603050405020304" pitchFamily="18" charset="0"/>
              </a:rPr>
              <a:t>Firebase</a:t>
            </a:r>
            <a:r>
              <a:rPr lang="en-US" sz="1300" dirty="0">
                <a:latin typeface="Times New Roman" panose="02020603050405020304" pitchFamily="18" charset="0"/>
                <a:cs typeface="Times New Roman" panose="02020603050405020304" pitchFamily="18" charset="0"/>
              </a:rPr>
              <a:t>:</a:t>
            </a:r>
          </a:p>
          <a:p>
            <a:pPr lvl="1" algn="just"/>
            <a:r>
              <a:rPr lang="en-US" sz="1300" dirty="0">
                <a:latin typeface="Times New Roman" panose="02020603050405020304" pitchFamily="18" charset="0"/>
                <a:cs typeface="Times New Roman" panose="02020603050405020304" pitchFamily="18" charset="0"/>
              </a:rPr>
              <a:t>Firebase Authentication (for user login &amp; identity management) </a:t>
            </a:r>
          </a:p>
          <a:p>
            <a:pPr lvl="1" algn="just"/>
            <a:r>
              <a:rPr lang="en-US" sz="1300" dirty="0">
                <a:latin typeface="Times New Roman" panose="02020603050405020304" pitchFamily="18" charset="0"/>
                <a:cs typeface="Times New Roman" panose="02020603050405020304" pitchFamily="18" charset="0"/>
              </a:rPr>
              <a:t>Cloud Firestore (for database operations like storing users, likes, comments, etc.)</a:t>
            </a:r>
          </a:p>
          <a:p>
            <a:pPr lvl="1" algn="just"/>
            <a:endParaRPr lang="en-US" sz="12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9B0BDF3D-F471-3C6D-3763-888EFA8B25BC}"/>
              </a:ext>
            </a:extLst>
          </p:cNvPr>
          <p:cNvSpPr txBox="1"/>
          <p:nvPr/>
        </p:nvSpPr>
        <p:spPr>
          <a:xfrm>
            <a:off x="448105" y="4861808"/>
            <a:ext cx="3984859" cy="1292662"/>
          </a:xfrm>
          <a:prstGeom prst="rect">
            <a:avLst/>
          </a:prstGeom>
          <a:noFill/>
        </p:spPr>
        <p:txBody>
          <a:bodyPr wrap="square" rtlCol="0">
            <a:spAutoFit/>
          </a:bodyPr>
          <a:lstStyle/>
          <a:p>
            <a:r>
              <a:rPr lang="en-US" sz="1300" b="1" u="sng" dirty="0">
                <a:highlight>
                  <a:srgbClr val="FFFF00"/>
                </a:highlight>
                <a:latin typeface="Times New Roman" panose="02020603050405020304" pitchFamily="18" charset="0"/>
                <a:cs typeface="Times New Roman" panose="02020603050405020304" pitchFamily="18" charset="0"/>
              </a:rPr>
              <a:t>APIs</a:t>
            </a:r>
            <a:r>
              <a:rPr lang="en-US" sz="1300" dirty="0">
                <a:latin typeface="Times New Roman" panose="02020603050405020304" pitchFamily="18" charset="0"/>
                <a:cs typeface="Times New Roman" panose="02020603050405020304" pitchFamily="18" charset="0"/>
              </a:rPr>
              <a:t>:</a:t>
            </a:r>
          </a:p>
          <a:p>
            <a:pPr marL="285750" indent="-285750">
              <a:buFontTx/>
              <a:buChar char="-"/>
            </a:pPr>
            <a:r>
              <a:rPr lang="en-US" sz="1300" b="1" u="sng" dirty="0">
                <a:latin typeface="Times New Roman" panose="02020603050405020304" pitchFamily="18" charset="0"/>
                <a:cs typeface="Times New Roman" panose="02020603050405020304" pitchFamily="18" charset="0"/>
              </a:rPr>
              <a:t>Google Firebase APIs</a:t>
            </a:r>
          </a:p>
          <a:p>
            <a:pPr marL="742950" lvl="1" indent="-285750">
              <a:buFontTx/>
              <a:buChar char="-"/>
            </a:pPr>
            <a:r>
              <a:rPr lang="en-US" sz="1300" dirty="0">
                <a:latin typeface="Times New Roman" panose="02020603050405020304" pitchFamily="18" charset="0"/>
                <a:cs typeface="Times New Roman" panose="02020603050405020304" pitchFamily="18" charset="0"/>
              </a:rPr>
              <a:t>Firebase Authentication</a:t>
            </a:r>
          </a:p>
          <a:p>
            <a:pPr marL="742950" lvl="1" indent="-285750">
              <a:buFontTx/>
              <a:buChar char="-"/>
            </a:pPr>
            <a:r>
              <a:rPr lang="en-US" sz="1300" dirty="0">
                <a:latin typeface="Times New Roman" panose="02020603050405020304" pitchFamily="18" charset="0"/>
                <a:cs typeface="Times New Roman" panose="02020603050405020304" pitchFamily="18" charset="0"/>
              </a:rPr>
              <a:t>Cloud Firestore</a:t>
            </a:r>
          </a:p>
          <a:p>
            <a:pPr marL="285750" indent="-285750">
              <a:buFontTx/>
              <a:buChar char="-"/>
            </a:pPr>
            <a:r>
              <a:rPr lang="en-US" sz="1300" b="1" u="sng" dirty="0">
                <a:latin typeface="Times New Roman" panose="02020603050405020304" pitchFamily="18" charset="0"/>
                <a:cs typeface="Times New Roman" panose="02020603050405020304" pitchFamily="18" charset="0"/>
              </a:rPr>
              <a:t>Web-based routing API</a:t>
            </a:r>
            <a:r>
              <a:rPr lang="en-US" sz="1300" dirty="0">
                <a:latin typeface="Times New Roman" panose="02020603050405020304" pitchFamily="18" charset="0"/>
                <a:cs typeface="Times New Roman" panose="02020603050405020304" pitchFamily="18" charset="0"/>
              </a:rPr>
              <a:t> for cross-platform sharing (i.e., currently on localhost)</a:t>
            </a:r>
          </a:p>
        </p:txBody>
      </p:sp>
    </p:spTree>
    <p:extLst>
      <p:ext uri="{BB962C8B-B14F-4D97-AF65-F5344CB8AC3E}">
        <p14:creationId xmlns:p14="http://schemas.microsoft.com/office/powerpoint/2010/main" val="33703610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58D5BD2-846C-2318-C1D1-DC961837F2B6}"/>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5D79ED69-9457-110D-1CC5-9924264F19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64A29CF-E0CB-0B3D-0B7F-C54A747381BC}"/>
              </a:ext>
            </a:extLst>
          </p:cNvPr>
          <p:cNvSpPr>
            <a:spLocks noGrp="1"/>
          </p:cNvSpPr>
          <p:nvPr>
            <p:ph type="title"/>
          </p:nvPr>
        </p:nvSpPr>
        <p:spPr>
          <a:xfrm>
            <a:off x="838200" y="365125"/>
            <a:ext cx="10515600" cy="1325563"/>
          </a:xfrm>
        </p:spPr>
        <p:txBody>
          <a:bodyPr>
            <a:normAutofit/>
          </a:bodyPr>
          <a:lstStyle/>
          <a:p>
            <a:pPr>
              <a:lnSpc>
                <a:spcPct val="100000"/>
              </a:lnSpc>
            </a:pPr>
            <a:r>
              <a:rPr lang="en-US" sz="4200" b="1" dirty="0">
                <a:latin typeface="Times New Roman" panose="02020603050405020304" pitchFamily="18" charset="0"/>
                <a:cs typeface="Times New Roman" panose="02020603050405020304" pitchFamily="18" charset="0"/>
              </a:rPr>
              <a:t>Implementation flowchart - 1</a:t>
            </a:r>
            <a:endParaRPr lang="ru-RU" sz="4200" b="1" dirty="0">
              <a:latin typeface="Times New Roman" panose="02020603050405020304" pitchFamily="18" charset="0"/>
              <a:cs typeface="Times New Roman" panose="02020603050405020304" pitchFamily="18" charset="0"/>
            </a:endParaRPr>
          </a:p>
        </p:txBody>
      </p:sp>
      <p:sp>
        <p:nvSpPr>
          <p:cNvPr id="26" name="sketch line">
            <a:extLst>
              <a:ext uri="{FF2B5EF4-FFF2-40B4-BE49-F238E27FC236}">
                <a16:creationId xmlns:a16="http://schemas.microsoft.com/office/drawing/2014/main" id="{8761DFE6-32A3-B1E8-1CDF-4E2DFC04E4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rminator 2">
            <a:extLst>
              <a:ext uri="{FF2B5EF4-FFF2-40B4-BE49-F238E27FC236}">
                <a16:creationId xmlns:a16="http://schemas.microsoft.com/office/drawing/2014/main" id="{9914AD1F-6F56-1696-E5E1-9117DC6F692F}"/>
              </a:ext>
            </a:extLst>
          </p:cNvPr>
          <p:cNvSpPr/>
          <p:nvPr/>
        </p:nvSpPr>
        <p:spPr>
          <a:xfrm>
            <a:off x="531015" y="1924411"/>
            <a:ext cx="719815" cy="392674"/>
          </a:xfrm>
          <a:prstGeom prst="flowChartTerminator">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sz="1600" dirty="0">
                <a:latin typeface="Times New Roman" panose="02020603050405020304" pitchFamily="18" charset="0"/>
                <a:cs typeface="Times New Roman" panose="02020603050405020304" pitchFamily="18" charset="0"/>
              </a:rPr>
              <a:t>Start</a:t>
            </a:r>
            <a:endParaRPr lang="en-US" dirty="0">
              <a:latin typeface="Times New Roman" panose="02020603050405020304" pitchFamily="18" charset="0"/>
              <a:cs typeface="Times New Roman" panose="02020603050405020304" pitchFamily="18" charset="0"/>
            </a:endParaRPr>
          </a:p>
        </p:txBody>
      </p:sp>
      <p:sp>
        <p:nvSpPr>
          <p:cNvPr id="4" name="Process 3">
            <a:extLst>
              <a:ext uri="{FF2B5EF4-FFF2-40B4-BE49-F238E27FC236}">
                <a16:creationId xmlns:a16="http://schemas.microsoft.com/office/drawing/2014/main" id="{48219316-A86B-D4DE-CDE9-85401C5E9AAC}"/>
              </a:ext>
            </a:extLst>
          </p:cNvPr>
          <p:cNvSpPr/>
          <p:nvPr/>
        </p:nvSpPr>
        <p:spPr>
          <a:xfrm>
            <a:off x="471953" y="2901979"/>
            <a:ext cx="849211" cy="480559"/>
          </a:xfrm>
          <a:prstGeom prst="flowChartProcess">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sz="1400" dirty="0"/>
              <a:t>Splash </a:t>
            </a:r>
            <a:r>
              <a:rPr lang="en-US" sz="1400" dirty="0">
                <a:latin typeface="Times New Roman" panose="02020603050405020304" pitchFamily="18" charset="0"/>
                <a:cs typeface="Times New Roman" panose="02020603050405020304" pitchFamily="18" charset="0"/>
              </a:rPr>
              <a:t>Screen</a:t>
            </a:r>
          </a:p>
        </p:txBody>
      </p:sp>
      <p:sp>
        <p:nvSpPr>
          <p:cNvPr id="6" name="Decision 5">
            <a:extLst>
              <a:ext uri="{FF2B5EF4-FFF2-40B4-BE49-F238E27FC236}">
                <a16:creationId xmlns:a16="http://schemas.microsoft.com/office/drawing/2014/main" id="{9CDA563C-2748-D274-B750-A03809BE58F1}"/>
              </a:ext>
            </a:extLst>
          </p:cNvPr>
          <p:cNvSpPr/>
          <p:nvPr/>
        </p:nvSpPr>
        <p:spPr>
          <a:xfrm>
            <a:off x="1687049" y="1798661"/>
            <a:ext cx="1784230" cy="641085"/>
          </a:xfrm>
          <a:prstGeom prst="flowChartDecis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Registered User?</a:t>
            </a:r>
          </a:p>
        </p:txBody>
      </p:sp>
      <p:sp>
        <p:nvSpPr>
          <p:cNvPr id="7" name="Process 6">
            <a:extLst>
              <a:ext uri="{FF2B5EF4-FFF2-40B4-BE49-F238E27FC236}">
                <a16:creationId xmlns:a16="http://schemas.microsoft.com/office/drawing/2014/main" id="{8A6B56D6-9490-C8CA-7254-6A0AE4418B93}"/>
              </a:ext>
            </a:extLst>
          </p:cNvPr>
          <p:cNvSpPr/>
          <p:nvPr/>
        </p:nvSpPr>
        <p:spPr>
          <a:xfrm>
            <a:off x="2109809" y="3166878"/>
            <a:ext cx="897148" cy="431320"/>
          </a:xfrm>
          <a:prstGeom prst="flowChart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Sign Up</a:t>
            </a:r>
          </a:p>
        </p:txBody>
      </p:sp>
      <p:sp>
        <p:nvSpPr>
          <p:cNvPr id="8" name="Rectangle 7">
            <a:extLst>
              <a:ext uri="{FF2B5EF4-FFF2-40B4-BE49-F238E27FC236}">
                <a16:creationId xmlns:a16="http://schemas.microsoft.com/office/drawing/2014/main" id="{B7926CDC-E287-CB4B-2135-6D5E2274A4B9}"/>
              </a:ext>
            </a:extLst>
          </p:cNvPr>
          <p:cNvSpPr/>
          <p:nvPr/>
        </p:nvSpPr>
        <p:spPr>
          <a:xfrm>
            <a:off x="2109809" y="4112756"/>
            <a:ext cx="897148" cy="4140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Login</a:t>
            </a:r>
          </a:p>
        </p:txBody>
      </p:sp>
      <p:cxnSp>
        <p:nvCxnSpPr>
          <p:cNvPr id="10" name="Straight Arrow Connector 9">
            <a:extLst>
              <a:ext uri="{FF2B5EF4-FFF2-40B4-BE49-F238E27FC236}">
                <a16:creationId xmlns:a16="http://schemas.microsoft.com/office/drawing/2014/main" id="{F10D1076-E348-74CC-11A7-37E85E7FBEB1}"/>
              </a:ext>
            </a:extLst>
          </p:cNvPr>
          <p:cNvCxnSpPr>
            <a:stCxn id="3" idx="2"/>
            <a:endCxn id="4" idx="0"/>
          </p:cNvCxnSpPr>
          <p:nvPr/>
        </p:nvCxnSpPr>
        <p:spPr>
          <a:xfrm>
            <a:off x="890923" y="2317085"/>
            <a:ext cx="5636" cy="5848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BA562B6B-A23D-9D96-7C96-3F7BAB9599F2}"/>
              </a:ext>
            </a:extLst>
          </p:cNvPr>
          <p:cNvCxnSpPr>
            <a:cxnSpLocks/>
            <a:stCxn id="4" idx="3"/>
            <a:endCxn id="6" idx="1"/>
          </p:cNvCxnSpPr>
          <p:nvPr/>
        </p:nvCxnSpPr>
        <p:spPr>
          <a:xfrm flipV="1">
            <a:off x="1321164" y="2119204"/>
            <a:ext cx="365885" cy="10230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3EFC079A-71CA-48A7-C090-3F646B2D0EB2}"/>
              </a:ext>
            </a:extLst>
          </p:cNvPr>
          <p:cNvCxnSpPr>
            <a:stCxn id="6" idx="2"/>
            <a:endCxn id="7" idx="0"/>
          </p:cNvCxnSpPr>
          <p:nvPr/>
        </p:nvCxnSpPr>
        <p:spPr>
          <a:xfrm flipH="1">
            <a:off x="2558383" y="2439746"/>
            <a:ext cx="20781" cy="7271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6991DDBE-AAEC-0624-E6F3-F474B4F2B461}"/>
              </a:ext>
            </a:extLst>
          </p:cNvPr>
          <p:cNvCxnSpPr>
            <a:cxnSpLocks/>
            <a:stCxn id="7" idx="2"/>
            <a:endCxn id="358" idx="0"/>
          </p:cNvCxnSpPr>
          <p:nvPr/>
        </p:nvCxnSpPr>
        <p:spPr>
          <a:xfrm>
            <a:off x="2558383" y="3598198"/>
            <a:ext cx="1032724" cy="8015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Curved Connector 24">
            <a:extLst>
              <a:ext uri="{FF2B5EF4-FFF2-40B4-BE49-F238E27FC236}">
                <a16:creationId xmlns:a16="http://schemas.microsoft.com/office/drawing/2014/main" id="{53ACDF85-2C93-74B9-7190-BC266640F060}"/>
              </a:ext>
            </a:extLst>
          </p:cNvPr>
          <p:cNvCxnSpPr>
            <a:cxnSpLocks/>
            <a:stCxn id="6" idx="2"/>
            <a:endCxn id="8" idx="1"/>
          </p:cNvCxnSpPr>
          <p:nvPr/>
        </p:nvCxnSpPr>
        <p:spPr>
          <a:xfrm rot="5400000">
            <a:off x="1404465" y="3145091"/>
            <a:ext cx="1880044" cy="469355"/>
          </a:xfrm>
          <a:prstGeom prst="curvedConnector4">
            <a:avLst>
              <a:gd name="adj1" fmla="val 25551"/>
              <a:gd name="adj2" fmla="val 175364"/>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56D8C026-8EC5-D6FF-6B49-AF6D546B3D53}"/>
              </a:ext>
            </a:extLst>
          </p:cNvPr>
          <p:cNvSpPr txBox="1"/>
          <p:nvPr/>
        </p:nvSpPr>
        <p:spPr>
          <a:xfrm>
            <a:off x="1778116" y="3895343"/>
            <a:ext cx="443542" cy="276999"/>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Yes</a:t>
            </a:r>
          </a:p>
        </p:txBody>
      </p:sp>
      <p:sp>
        <p:nvSpPr>
          <p:cNvPr id="29" name="TextBox 28">
            <a:extLst>
              <a:ext uri="{FF2B5EF4-FFF2-40B4-BE49-F238E27FC236}">
                <a16:creationId xmlns:a16="http://schemas.microsoft.com/office/drawing/2014/main" id="{7ABE1523-199C-5B46-059B-6B6C85791558}"/>
              </a:ext>
            </a:extLst>
          </p:cNvPr>
          <p:cNvSpPr txBox="1"/>
          <p:nvPr/>
        </p:nvSpPr>
        <p:spPr>
          <a:xfrm>
            <a:off x="2518203" y="2752699"/>
            <a:ext cx="504865" cy="276999"/>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No</a:t>
            </a:r>
          </a:p>
        </p:txBody>
      </p:sp>
      <p:sp>
        <p:nvSpPr>
          <p:cNvPr id="36" name="Decision 35">
            <a:extLst>
              <a:ext uri="{FF2B5EF4-FFF2-40B4-BE49-F238E27FC236}">
                <a16:creationId xmlns:a16="http://schemas.microsoft.com/office/drawing/2014/main" id="{6B48BAF7-99DA-0B97-0AAA-DAD8E0A16E70}"/>
              </a:ext>
            </a:extLst>
          </p:cNvPr>
          <p:cNvSpPr/>
          <p:nvPr/>
        </p:nvSpPr>
        <p:spPr>
          <a:xfrm>
            <a:off x="1666268" y="5009206"/>
            <a:ext cx="1784230" cy="641085"/>
          </a:xfrm>
          <a:prstGeom prst="flowChartDecis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Valid credentials?</a:t>
            </a:r>
          </a:p>
        </p:txBody>
      </p:sp>
      <p:cxnSp>
        <p:nvCxnSpPr>
          <p:cNvPr id="38" name="Straight Arrow Connector 37">
            <a:extLst>
              <a:ext uri="{FF2B5EF4-FFF2-40B4-BE49-F238E27FC236}">
                <a16:creationId xmlns:a16="http://schemas.microsoft.com/office/drawing/2014/main" id="{A5A57296-2313-7B3C-81C1-E456147F967A}"/>
              </a:ext>
            </a:extLst>
          </p:cNvPr>
          <p:cNvCxnSpPr>
            <a:stCxn id="8" idx="2"/>
            <a:endCxn id="36" idx="0"/>
          </p:cNvCxnSpPr>
          <p:nvPr/>
        </p:nvCxnSpPr>
        <p:spPr>
          <a:xfrm>
            <a:off x="2558383" y="4526824"/>
            <a:ext cx="0" cy="4823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38C9030F-6170-DD4F-20A4-C5EB15361B7F}"/>
              </a:ext>
            </a:extLst>
          </p:cNvPr>
          <p:cNvSpPr/>
          <p:nvPr/>
        </p:nvSpPr>
        <p:spPr>
          <a:xfrm>
            <a:off x="2109809" y="6078807"/>
            <a:ext cx="897148" cy="4140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Error</a:t>
            </a:r>
          </a:p>
        </p:txBody>
      </p:sp>
      <p:cxnSp>
        <p:nvCxnSpPr>
          <p:cNvPr id="42" name="Straight Arrow Connector 41">
            <a:extLst>
              <a:ext uri="{FF2B5EF4-FFF2-40B4-BE49-F238E27FC236}">
                <a16:creationId xmlns:a16="http://schemas.microsoft.com/office/drawing/2014/main" id="{AC852DB5-DF10-A50E-3A3E-DFAA72423BA4}"/>
              </a:ext>
            </a:extLst>
          </p:cNvPr>
          <p:cNvCxnSpPr>
            <a:stCxn id="36" idx="2"/>
            <a:endCxn id="40" idx="0"/>
          </p:cNvCxnSpPr>
          <p:nvPr/>
        </p:nvCxnSpPr>
        <p:spPr>
          <a:xfrm>
            <a:off x="2558383" y="5650291"/>
            <a:ext cx="0" cy="4285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7D788D7A-60ED-6C06-50B3-0428D54EC6ED}"/>
              </a:ext>
            </a:extLst>
          </p:cNvPr>
          <p:cNvSpPr txBox="1"/>
          <p:nvPr/>
        </p:nvSpPr>
        <p:spPr>
          <a:xfrm>
            <a:off x="2527539" y="5702704"/>
            <a:ext cx="457200" cy="276999"/>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No</a:t>
            </a:r>
          </a:p>
        </p:txBody>
      </p:sp>
      <p:cxnSp>
        <p:nvCxnSpPr>
          <p:cNvPr id="45" name="Curved Connector 44">
            <a:extLst>
              <a:ext uri="{FF2B5EF4-FFF2-40B4-BE49-F238E27FC236}">
                <a16:creationId xmlns:a16="http://schemas.microsoft.com/office/drawing/2014/main" id="{2CACCDF4-AE0B-53F4-6734-465A77729693}"/>
              </a:ext>
            </a:extLst>
          </p:cNvPr>
          <p:cNvCxnSpPr>
            <a:cxnSpLocks/>
            <a:stCxn id="40" idx="1"/>
            <a:endCxn id="8" idx="1"/>
          </p:cNvCxnSpPr>
          <p:nvPr/>
        </p:nvCxnSpPr>
        <p:spPr>
          <a:xfrm rot="10800000">
            <a:off x="2109809" y="4319791"/>
            <a:ext cx="12700" cy="1966051"/>
          </a:xfrm>
          <a:prstGeom prst="curvedConnector3">
            <a:avLst>
              <a:gd name="adj1" fmla="val 4856606"/>
            </a:avLst>
          </a:prstGeom>
          <a:ln>
            <a:tailEnd type="triangle"/>
          </a:ln>
        </p:spPr>
        <p:style>
          <a:lnRef idx="1">
            <a:schemeClr val="accent1"/>
          </a:lnRef>
          <a:fillRef idx="0">
            <a:schemeClr val="accent1"/>
          </a:fillRef>
          <a:effectRef idx="0">
            <a:schemeClr val="accent1"/>
          </a:effectRef>
          <a:fontRef idx="minor">
            <a:schemeClr val="tx1"/>
          </a:fontRef>
        </p:style>
      </p:cxnSp>
      <p:sp>
        <p:nvSpPr>
          <p:cNvPr id="57" name="Decision 56">
            <a:extLst>
              <a:ext uri="{FF2B5EF4-FFF2-40B4-BE49-F238E27FC236}">
                <a16:creationId xmlns:a16="http://schemas.microsoft.com/office/drawing/2014/main" id="{4F659AEE-6A2E-D88C-CF5A-9D64DDC4B3B7}"/>
              </a:ext>
            </a:extLst>
          </p:cNvPr>
          <p:cNvSpPr/>
          <p:nvPr/>
        </p:nvSpPr>
        <p:spPr>
          <a:xfrm>
            <a:off x="3450498" y="3043257"/>
            <a:ext cx="1510858" cy="641085"/>
          </a:xfrm>
          <a:prstGeom prst="flowChartDecision">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User Action Hub</a:t>
            </a:r>
          </a:p>
        </p:txBody>
      </p:sp>
      <p:cxnSp>
        <p:nvCxnSpPr>
          <p:cNvPr id="59" name="Straight Arrow Connector 58">
            <a:extLst>
              <a:ext uri="{FF2B5EF4-FFF2-40B4-BE49-F238E27FC236}">
                <a16:creationId xmlns:a16="http://schemas.microsoft.com/office/drawing/2014/main" id="{82A0331D-E392-C2C6-4B4F-8C1E9F4CFB65}"/>
              </a:ext>
            </a:extLst>
          </p:cNvPr>
          <p:cNvCxnSpPr>
            <a:cxnSpLocks/>
            <a:stCxn id="36" idx="3"/>
            <a:endCxn id="358" idx="2"/>
          </p:cNvCxnSpPr>
          <p:nvPr/>
        </p:nvCxnSpPr>
        <p:spPr>
          <a:xfrm flipV="1">
            <a:off x="3450498" y="4831046"/>
            <a:ext cx="140609" cy="498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3" name="Process 62">
            <a:extLst>
              <a:ext uri="{FF2B5EF4-FFF2-40B4-BE49-F238E27FC236}">
                <a16:creationId xmlns:a16="http://schemas.microsoft.com/office/drawing/2014/main" id="{B365BCDD-F3D6-081C-F926-7BD854155F3D}"/>
              </a:ext>
            </a:extLst>
          </p:cNvPr>
          <p:cNvSpPr/>
          <p:nvPr/>
        </p:nvSpPr>
        <p:spPr>
          <a:xfrm>
            <a:off x="5222881" y="1786048"/>
            <a:ext cx="996437" cy="431320"/>
          </a:xfrm>
          <a:prstGeom prst="flowChartProcess">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User’s Dashboard</a:t>
            </a:r>
          </a:p>
        </p:txBody>
      </p:sp>
      <p:cxnSp>
        <p:nvCxnSpPr>
          <p:cNvPr id="66" name="Straight Arrow Connector 65">
            <a:extLst>
              <a:ext uri="{FF2B5EF4-FFF2-40B4-BE49-F238E27FC236}">
                <a16:creationId xmlns:a16="http://schemas.microsoft.com/office/drawing/2014/main" id="{12F3E6F4-8418-CEE7-2F69-46996FAE248B}"/>
              </a:ext>
            </a:extLst>
          </p:cNvPr>
          <p:cNvCxnSpPr>
            <a:cxnSpLocks/>
            <a:stCxn id="57" idx="0"/>
            <a:endCxn id="63" idx="1"/>
          </p:cNvCxnSpPr>
          <p:nvPr/>
        </p:nvCxnSpPr>
        <p:spPr>
          <a:xfrm flipV="1">
            <a:off x="4205927" y="2001708"/>
            <a:ext cx="1016954" cy="10415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AB23015E-327B-08AD-9536-F02260CA8549}"/>
              </a:ext>
            </a:extLst>
          </p:cNvPr>
          <p:cNvSpPr txBox="1"/>
          <p:nvPr/>
        </p:nvSpPr>
        <p:spPr>
          <a:xfrm rot="18823464">
            <a:off x="4384086" y="2390878"/>
            <a:ext cx="954906" cy="338554"/>
          </a:xfrm>
          <a:prstGeom prst="rect">
            <a:avLst/>
          </a:prstGeom>
          <a:noFill/>
        </p:spPr>
        <p:txBody>
          <a:bodyPr wrap="square" rtlCol="0">
            <a:spAutoFit/>
          </a:bodyPr>
          <a:lstStyle/>
          <a:p>
            <a:r>
              <a:rPr lang="en-US" sz="800" dirty="0">
                <a:latin typeface="Times New Roman" panose="02020603050405020304" pitchFamily="18" charset="0"/>
                <a:cs typeface="Times New Roman" panose="02020603050405020304" pitchFamily="18" charset="0"/>
              </a:rPr>
              <a:t>Selected&gt;0? </a:t>
            </a:r>
          </a:p>
          <a:p>
            <a:r>
              <a:rPr lang="en-US" sz="800" dirty="0">
                <a:latin typeface="Times New Roman" panose="02020603050405020304" pitchFamily="18" charset="0"/>
                <a:cs typeface="Times New Roman" panose="02020603050405020304" pitchFamily="18" charset="0"/>
              </a:rPr>
              <a:t>Saved pref. : Error</a:t>
            </a:r>
          </a:p>
        </p:txBody>
      </p:sp>
      <p:sp>
        <p:nvSpPr>
          <p:cNvPr id="68" name="TextBox 67">
            <a:extLst>
              <a:ext uri="{FF2B5EF4-FFF2-40B4-BE49-F238E27FC236}">
                <a16:creationId xmlns:a16="http://schemas.microsoft.com/office/drawing/2014/main" id="{3DA590D1-364C-EA4C-8784-00E1076868C1}"/>
              </a:ext>
            </a:extLst>
          </p:cNvPr>
          <p:cNvSpPr txBox="1"/>
          <p:nvPr/>
        </p:nvSpPr>
        <p:spPr>
          <a:xfrm>
            <a:off x="3105220" y="4964371"/>
            <a:ext cx="443542" cy="276999"/>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Yes</a:t>
            </a:r>
          </a:p>
        </p:txBody>
      </p:sp>
      <p:sp>
        <p:nvSpPr>
          <p:cNvPr id="74" name="Rectangle 73">
            <a:extLst>
              <a:ext uri="{FF2B5EF4-FFF2-40B4-BE49-F238E27FC236}">
                <a16:creationId xmlns:a16="http://schemas.microsoft.com/office/drawing/2014/main" id="{808FCD04-4732-E69D-1563-539E601C1434}"/>
              </a:ext>
            </a:extLst>
          </p:cNvPr>
          <p:cNvSpPr/>
          <p:nvPr/>
        </p:nvSpPr>
        <p:spPr>
          <a:xfrm>
            <a:off x="3752320" y="4973593"/>
            <a:ext cx="897148" cy="414068"/>
          </a:xfrm>
          <a:prstGeom prst="rect">
            <a:avLst/>
          </a:prstGeom>
          <a:solidFill>
            <a:srgbClr val="0D460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Logout</a:t>
            </a:r>
          </a:p>
        </p:txBody>
      </p:sp>
      <p:cxnSp>
        <p:nvCxnSpPr>
          <p:cNvPr id="80" name="Straight Arrow Connector 79">
            <a:extLst>
              <a:ext uri="{FF2B5EF4-FFF2-40B4-BE49-F238E27FC236}">
                <a16:creationId xmlns:a16="http://schemas.microsoft.com/office/drawing/2014/main" id="{30F48D91-A4AC-75E3-8438-285199ADBE81}"/>
              </a:ext>
            </a:extLst>
          </p:cNvPr>
          <p:cNvCxnSpPr>
            <a:cxnSpLocks/>
            <a:stCxn id="57" idx="2"/>
            <a:endCxn id="74" idx="0"/>
          </p:cNvCxnSpPr>
          <p:nvPr/>
        </p:nvCxnSpPr>
        <p:spPr>
          <a:xfrm flipH="1">
            <a:off x="4200894" y="3684342"/>
            <a:ext cx="5033" cy="12892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2" name="TextBox 81">
            <a:extLst>
              <a:ext uri="{FF2B5EF4-FFF2-40B4-BE49-F238E27FC236}">
                <a16:creationId xmlns:a16="http://schemas.microsoft.com/office/drawing/2014/main" id="{535DC150-7A82-C3E9-0333-EE940ABD9BFE}"/>
              </a:ext>
            </a:extLst>
          </p:cNvPr>
          <p:cNvSpPr txBox="1"/>
          <p:nvPr/>
        </p:nvSpPr>
        <p:spPr>
          <a:xfrm>
            <a:off x="4148043" y="4146567"/>
            <a:ext cx="628709" cy="769441"/>
          </a:xfrm>
          <a:prstGeom prst="rect">
            <a:avLst/>
          </a:prstGeom>
          <a:noFill/>
        </p:spPr>
        <p:txBody>
          <a:bodyPr wrap="square" rtlCol="0">
            <a:spAutoFit/>
          </a:bodyPr>
          <a:lstStyle/>
          <a:p>
            <a:r>
              <a:rPr lang="en-US" sz="1100" dirty="0">
                <a:latin typeface="Times New Roman" panose="02020603050405020304" pitchFamily="18" charset="0"/>
                <a:cs typeface="Times New Roman" panose="02020603050405020304" pitchFamily="18" charset="0"/>
              </a:rPr>
              <a:t>Open profile dialog box</a:t>
            </a:r>
          </a:p>
        </p:txBody>
      </p:sp>
      <p:sp>
        <p:nvSpPr>
          <p:cNvPr id="83" name="Terminator 82">
            <a:extLst>
              <a:ext uri="{FF2B5EF4-FFF2-40B4-BE49-F238E27FC236}">
                <a16:creationId xmlns:a16="http://schemas.microsoft.com/office/drawing/2014/main" id="{0333941A-E9A2-A5D9-D758-3CC87307CB9D}"/>
              </a:ext>
            </a:extLst>
          </p:cNvPr>
          <p:cNvSpPr/>
          <p:nvPr/>
        </p:nvSpPr>
        <p:spPr>
          <a:xfrm>
            <a:off x="3846019" y="6073236"/>
            <a:ext cx="719815" cy="392674"/>
          </a:xfrm>
          <a:prstGeom prst="flowChartTerminator">
            <a:avLst/>
          </a:prstGeom>
          <a:solidFill>
            <a:srgbClr val="0D460A"/>
          </a:solidFill>
        </p:spPr>
        <p:style>
          <a:lnRef idx="3">
            <a:schemeClr val="lt1"/>
          </a:lnRef>
          <a:fillRef idx="1">
            <a:schemeClr val="accent2"/>
          </a:fillRef>
          <a:effectRef idx="1">
            <a:schemeClr val="accent2"/>
          </a:effectRef>
          <a:fontRef idx="minor">
            <a:schemeClr val="lt1"/>
          </a:fontRef>
        </p:style>
        <p:txBody>
          <a:bodyPr rtlCol="0" anchor="ctr"/>
          <a:lstStyle/>
          <a:p>
            <a:pPr algn="ctr"/>
            <a:r>
              <a:rPr lang="en-US" sz="1600" dirty="0">
                <a:latin typeface="Times New Roman" panose="02020603050405020304" pitchFamily="18" charset="0"/>
                <a:cs typeface="Times New Roman" panose="02020603050405020304" pitchFamily="18" charset="0"/>
              </a:rPr>
              <a:t>End</a:t>
            </a:r>
            <a:endParaRPr lang="en-US" dirty="0">
              <a:latin typeface="Times New Roman" panose="02020603050405020304" pitchFamily="18" charset="0"/>
              <a:cs typeface="Times New Roman" panose="02020603050405020304" pitchFamily="18" charset="0"/>
            </a:endParaRPr>
          </a:p>
        </p:txBody>
      </p:sp>
      <p:cxnSp>
        <p:nvCxnSpPr>
          <p:cNvPr id="85" name="Straight Arrow Connector 84">
            <a:extLst>
              <a:ext uri="{FF2B5EF4-FFF2-40B4-BE49-F238E27FC236}">
                <a16:creationId xmlns:a16="http://schemas.microsoft.com/office/drawing/2014/main" id="{57156787-BF8D-BFA1-0249-87915481AD63}"/>
              </a:ext>
            </a:extLst>
          </p:cNvPr>
          <p:cNvCxnSpPr>
            <a:stCxn id="74" idx="2"/>
            <a:endCxn id="83" idx="0"/>
          </p:cNvCxnSpPr>
          <p:nvPr/>
        </p:nvCxnSpPr>
        <p:spPr>
          <a:xfrm>
            <a:off x="4200894" y="5387661"/>
            <a:ext cx="5033" cy="6855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7" name="Decision 146">
            <a:extLst>
              <a:ext uri="{FF2B5EF4-FFF2-40B4-BE49-F238E27FC236}">
                <a16:creationId xmlns:a16="http://schemas.microsoft.com/office/drawing/2014/main" id="{0018611D-3B46-84D4-DE8C-299D5B0FB983}"/>
              </a:ext>
            </a:extLst>
          </p:cNvPr>
          <p:cNvSpPr/>
          <p:nvPr/>
        </p:nvSpPr>
        <p:spPr>
          <a:xfrm>
            <a:off x="5080785" y="5659530"/>
            <a:ext cx="1285336" cy="973512"/>
          </a:xfrm>
          <a:prstGeom prst="flowChartDecision">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User Action Hub</a:t>
            </a:r>
          </a:p>
        </p:txBody>
      </p:sp>
      <p:sp>
        <p:nvSpPr>
          <p:cNvPr id="159" name="Process 158">
            <a:extLst>
              <a:ext uri="{FF2B5EF4-FFF2-40B4-BE49-F238E27FC236}">
                <a16:creationId xmlns:a16="http://schemas.microsoft.com/office/drawing/2014/main" id="{985C4793-EBEF-1012-3DC8-110D209D2D88}"/>
              </a:ext>
            </a:extLst>
          </p:cNvPr>
          <p:cNvSpPr/>
          <p:nvPr/>
        </p:nvSpPr>
        <p:spPr>
          <a:xfrm>
            <a:off x="5042009" y="2799273"/>
            <a:ext cx="1362885" cy="796227"/>
          </a:xfrm>
          <a:prstGeom prst="flowChartProcess">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Feed fetch: Feed posts from selected communities.</a:t>
            </a:r>
          </a:p>
        </p:txBody>
      </p:sp>
      <p:cxnSp>
        <p:nvCxnSpPr>
          <p:cNvPr id="161" name="Straight Arrow Connector 160">
            <a:extLst>
              <a:ext uri="{FF2B5EF4-FFF2-40B4-BE49-F238E27FC236}">
                <a16:creationId xmlns:a16="http://schemas.microsoft.com/office/drawing/2014/main" id="{17284829-8171-2571-1FCE-60858DEF49EA}"/>
              </a:ext>
            </a:extLst>
          </p:cNvPr>
          <p:cNvCxnSpPr>
            <a:stCxn id="63" idx="2"/>
            <a:endCxn id="159" idx="0"/>
          </p:cNvCxnSpPr>
          <p:nvPr/>
        </p:nvCxnSpPr>
        <p:spPr>
          <a:xfrm>
            <a:off x="5721100" y="2217368"/>
            <a:ext cx="2352" cy="5819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5" name="Process 164">
            <a:extLst>
              <a:ext uri="{FF2B5EF4-FFF2-40B4-BE49-F238E27FC236}">
                <a16:creationId xmlns:a16="http://schemas.microsoft.com/office/drawing/2014/main" id="{579960D9-A36B-4B8C-4EFB-AF8686387EF1}"/>
              </a:ext>
            </a:extLst>
          </p:cNvPr>
          <p:cNvSpPr/>
          <p:nvPr/>
        </p:nvSpPr>
        <p:spPr>
          <a:xfrm>
            <a:off x="5042010" y="4227806"/>
            <a:ext cx="1362885" cy="572900"/>
          </a:xfrm>
          <a:prstGeom prst="flowChartProcess">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Real-time feed updates</a:t>
            </a:r>
          </a:p>
        </p:txBody>
      </p:sp>
      <p:cxnSp>
        <p:nvCxnSpPr>
          <p:cNvPr id="167" name="Straight Arrow Connector 166">
            <a:extLst>
              <a:ext uri="{FF2B5EF4-FFF2-40B4-BE49-F238E27FC236}">
                <a16:creationId xmlns:a16="http://schemas.microsoft.com/office/drawing/2014/main" id="{C6E45554-B278-3672-1763-F353633ABD37}"/>
              </a:ext>
            </a:extLst>
          </p:cNvPr>
          <p:cNvCxnSpPr>
            <a:stCxn id="159" idx="2"/>
            <a:endCxn id="165" idx="0"/>
          </p:cNvCxnSpPr>
          <p:nvPr/>
        </p:nvCxnSpPr>
        <p:spPr>
          <a:xfrm>
            <a:off x="5723452" y="3595500"/>
            <a:ext cx="1" cy="6323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9" name="Straight Arrow Connector 168">
            <a:extLst>
              <a:ext uri="{FF2B5EF4-FFF2-40B4-BE49-F238E27FC236}">
                <a16:creationId xmlns:a16="http://schemas.microsoft.com/office/drawing/2014/main" id="{CD57AB9C-0C23-95C7-C2D1-694D3973D841}"/>
              </a:ext>
            </a:extLst>
          </p:cNvPr>
          <p:cNvCxnSpPr>
            <a:stCxn id="165" idx="2"/>
            <a:endCxn id="147" idx="0"/>
          </p:cNvCxnSpPr>
          <p:nvPr/>
        </p:nvCxnSpPr>
        <p:spPr>
          <a:xfrm>
            <a:off x="5723453" y="4800706"/>
            <a:ext cx="0" cy="8588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4" name="Process 183">
            <a:extLst>
              <a:ext uri="{FF2B5EF4-FFF2-40B4-BE49-F238E27FC236}">
                <a16:creationId xmlns:a16="http://schemas.microsoft.com/office/drawing/2014/main" id="{DE676FCD-7B92-8223-9C09-466EFB087F75}"/>
              </a:ext>
            </a:extLst>
          </p:cNvPr>
          <p:cNvSpPr/>
          <p:nvPr/>
        </p:nvSpPr>
        <p:spPr>
          <a:xfrm>
            <a:off x="7240979" y="6325395"/>
            <a:ext cx="996437" cy="431320"/>
          </a:xfrm>
          <a:prstGeom prst="flowChartProcess">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Date Filters</a:t>
            </a:r>
          </a:p>
        </p:txBody>
      </p:sp>
      <p:sp>
        <p:nvSpPr>
          <p:cNvPr id="185" name="Process 184">
            <a:extLst>
              <a:ext uri="{FF2B5EF4-FFF2-40B4-BE49-F238E27FC236}">
                <a16:creationId xmlns:a16="http://schemas.microsoft.com/office/drawing/2014/main" id="{4CECC429-020A-7AEA-3105-4CEA3E3B856A}"/>
              </a:ext>
            </a:extLst>
          </p:cNvPr>
          <p:cNvSpPr/>
          <p:nvPr/>
        </p:nvSpPr>
        <p:spPr>
          <a:xfrm>
            <a:off x="9741288" y="6325395"/>
            <a:ext cx="1063422" cy="431320"/>
          </a:xfrm>
          <a:prstGeom prst="flowChartProcess">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Bookmarks</a:t>
            </a:r>
          </a:p>
        </p:txBody>
      </p:sp>
      <p:cxnSp>
        <p:nvCxnSpPr>
          <p:cNvPr id="187" name="Elbow Connector 186">
            <a:extLst>
              <a:ext uri="{FF2B5EF4-FFF2-40B4-BE49-F238E27FC236}">
                <a16:creationId xmlns:a16="http://schemas.microsoft.com/office/drawing/2014/main" id="{A5CBE99A-2FE6-EE5A-CD37-C785CD1FB2C3}"/>
              </a:ext>
            </a:extLst>
          </p:cNvPr>
          <p:cNvCxnSpPr>
            <a:cxnSpLocks/>
            <a:stCxn id="147" idx="3"/>
            <a:endCxn id="184" idx="0"/>
          </p:cNvCxnSpPr>
          <p:nvPr/>
        </p:nvCxnSpPr>
        <p:spPr>
          <a:xfrm>
            <a:off x="6366121" y="6146286"/>
            <a:ext cx="1373077" cy="17910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1" name="Elbow Connector 190">
            <a:extLst>
              <a:ext uri="{FF2B5EF4-FFF2-40B4-BE49-F238E27FC236}">
                <a16:creationId xmlns:a16="http://schemas.microsoft.com/office/drawing/2014/main" id="{17F687DE-C0DD-8501-4D6E-F1699D97043D}"/>
              </a:ext>
            </a:extLst>
          </p:cNvPr>
          <p:cNvCxnSpPr>
            <a:cxnSpLocks/>
            <a:endCxn id="185" idx="0"/>
          </p:cNvCxnSpPr>
          <p:nvPr/>
        </p:nvCxnSpPr>
        <p:spPr>
          <a:xfrm>
            <a:off x="7197163" y="6146286"/>
            <a:ext cx="3075836" cy="17910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97" name="TextBox 196">
            <a:extLst>
              <a:ext uri="{FF2B5EF4-FFF2-40B4-BE49-F238E27FC236}">
                <a16:creationId xmlns:a16="http://schemas.microsoft.com/office/drawing/2014/main" id="{689E8748-C5CB-C4DC-2F0F-B37DDE2CD442}"/>
              </a:ext>
            </a:extLst>
          </p:cNvPr>
          <p:cNvSpPr txBox="1"/>
          <p:nvPr/>
        </p:nvSpPr>
        <p:spPr>
          <a:xfrm>
            <a:off x="6404894" y="6131073"/>
            <a:ext cx="781409" cy="246221"/>
          </a:xfrm>
          <a:prstGeom prst="rect">
            <a:avLst/>
          </a:prstGeom>
          <a:noFill/>
        </p:spPr>
        <p:txBody>
          <a:bodyPr wrap="square" rtlCol="0">
            <a:spAutoFit/>
          </a:bodyPr>
          <a:lstStyle/>
          <a:p>
            <a:r>
              <a:rPr lang="en-US" sz="1000" dirty="0">
                <a:latin typeface="Times New Roman" panose="02020603050405020304" pitchFamily="18" charset="0"/>
                <a:cs typeface="Times New Roman" panose="02020603050405020304" pitchFamily="18" charset="0"/>
              </a:rPr>
              <a:t>Date Filters</a:t>
            </a:r>
          </a:p>
        </p:txBody>
      </p:sp>
      <p:sp>
        <p:nvSpPr>
          <p:cNvPr id="199" name="TextBox 198">
            <a:extLst>
              <a:ext uri="{FF2B5EF4-FFF2-40B4-BE49-F238E27FC236}">
                <a16:creationId xmlns:a16="http://schemas.microsoft.com/office/drawing/2014/main" id="{F1B6AE34-3A65-6BF0-8185-34DF92D751B7}"/>
              </a:ext>
            </a:extLst>
          </p:cNvPr>
          <p:cNvSpPr txBox="1"/>
          <p:nvPr/>
        </p:nvSpPr>
        <p:spPr>
          <a:xfrm>
            <a:off x="8886832" y="6112729"/>
            <a:ext cx="781409" cy="246221"/>
          </a:xfrm>
          <a:prstGeom prst="rect">
            <a:avLst/>
          </a:prstGeom>
          <a:noFill/>
        </p:spPr>
        <p:txBody>
          <a:bodyPr wrap="square" rtlCol="0">
            <a:spAutoFit/>
          </a:bodyPr>
          <a:lstStyle/>
          <a:p>
            <a:r>
              <a:rPr lang="en-US" sz="1000" dirty="0">
                <a:latin typeface="Times New Roman" panose="02020603050405020304" pitchFamily="18" charset="0"/>
                <a:cs typeface="Times New Roman" panose="02020603050405020304" pitchFamily="18" charset="0"/>
              </a:rPr>
              <a:t>Edit Prefs</a:t>
            </a:r>
          </a:p>
        </p:txBody>
      </p:sp>
      <p:sp>
        <p:nvSpPr>
          <p:cNvPr id="200" name="Decision 199">
            <a:extLst>
              <a:ext uri="{FF2B5EF4-FFF2-40B4-BE49-F238E27FC236}">
                <a16:creationId xmlns:a16="http://schemas.microsoft.com/office/drawing/2014/main" id="{011D0564-370D-21E3-1CC9-24963C4007ED}"/>
              </a:ext>
            </a:extLst>
          </p:cNvPr>
          <p:cNvSpPr/>
          <p:nvPr/>
        </p:nvSpPr>
        <p:spPr>
          <a:xfrm>
            <a:off x="7781519" y="3871370"/>
            <a:ext cx="1285336" cy="973512"/>
          </a:xfrm>
          <a:prstGeom prst="flowChartDecision">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Create option</a:t>
            </a:r>
          </a:p>
        </p:txBody>
      </p:sp>
      <p:cxnSp>
        <p:nvCxnSpPr>
          <p:cNvPr id="202" name="Curved Connector 201">
            <a:extLst>
              <a:ext uri="{FF2B5EF4-FFF2-40B4-BE49-F238E27FC236}">
                <a16:creationId xmlns:a16="http://schemas.microsoft.com/office/drawing/2014/main" id="{DFD96B7D-ADAE-FE90-7036-DC9877BA9C85}"/>
              </a:ext>
            </a:extLst>
          </p:cNvPr>
          <p:cNvCxnSpPr>
            <a:cxnSpLocks/>
            <a:stCxn id="147" idx="3"/>
            <a:endCxn id="200" idx="2"/>
          </p:cNvCxnSpPr>
          <p:nvPr/>
        </p:nvCxnSpPr>
        <p:spPr>
          <a:xfrm flipV="1">
            <a:off x="6366121" y="4844882"/>
            <a:ext cx="2058066" cy="1301404"/>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05" name="TextBox 204">
            <a:extLst>
              <a:ext uri="{FF2B5EF4-FFF2-40B4-BE49-F238E27FC236}">
                <a16:creationId xmlns:a16="http://schemas.microsoft.com/office/drawing/2014/main" id="{352ED4E9-3C88-D10D-13E7-31BF27B17ACE}"/>
              </a:ext>
            </a:extLst>
          </p:cNvPr>
          <p:cNvSpPr txBox="1"/>
          <p:nvPr/>
        </p:nvSpPr>
        <p:spPr>
          <a:xfrm rot="18758241">
            <a:off x="7624143" y="5124755"/>
            <a:ext cx="980228" cy="246221"/>
          </a:xfrm>
          <a:prstGeom prst="rect">
            <a:avLst/>
          </a:prstGeom>
          <a:noFill/>
        </p:spPr>
        <p:txBody>
          <a:bodyPr wrap="square" rtlCol="0">
            <a:spAutoFit/>
          </a:bodyPr>
          <a:lstStyle/>
          <a:p>
            <a:r>
              <a:rPr lang="en-US" sz="1000" dirty="0">
                <a:latin typeface="Times New Roman" panose="02020603050405020304" pitchFamily="18" charset="0"/>
                <a:cs typeface="Times New Roman" panose="02020603050405020304" pitchFamily="18" charset="0"/>
              </a:rPr>
              <a:t>Click FAB (+)</a:t>
            </a:r>
          </a:p>
        </p:txBody>
      </p:sp>
      <p:sp>
        <p:nvSpPr>
          <p:cNvPr id="206" name="Process 205">
            <a:extLst>
              <a:ext uri="{FF2B5EF4-FFF2-40B4-BE49-F238E27FC236}">
                <a16:creationId xmlns:a16="http://schemas.microsoft.com/office/drawing/2014/main" id="{43ED1CB4-00D0-8D28-16A4-D7BE26F07BA9}"/>
              </a:ext>
            </a:extLst>
          </p:cNvPr>
          <p:cNvSpPr/>
          <p:nvPr/>
        </p:nvSpPr>
        <p:spPr>
          <a:xfrm>
            <a:off x="9741288" y="4871496"/>
            <a:ext cx="1063422" cy="431320"/>
          </a:xfrm>
          <a:prstGeom prst="flowChartProcess">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Post Interaction</a:t>
            </a:r>
          </a:p>
        </p:txBody>
      </p:sp>
      <p:sp>
        <p:nvSpPr>
          <p:cNvPr id="210" name="Process 209">
            <a:extLst>
              <a:ext uri="{FF2B5EF4-FFF2-40B4-BE49-F238E27FC236}">
                <a16:creationId xmlns:a16="http://schemas.microsoft.com/office/drawing/2014/main" id="{3CFE9812-8CA5-83C7-F8A4-AC4D3447E6AE}"/>
              </a:ext>
            </a:extLst>
          </p:cNvPr>
          <p:cNvSpPr/>
          <p:nvPr/>
        </p:nvSpPr>
        <p:spPr>
          <a:xfrm>
            <a:off x="10824994" y="1989915"/>
            <a:ext cx="1063422" cy="431320"/>
          </a:xfrm>
          <a:prstGeom prst="flowChartProcess">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Up/Down</a:t>
            </a:r>
          </a:p>
          <a:p>
            <a:pPr algn="ctr"/>
            <a:r>
              <a:rPr lang="en-US" sz="1400" dirty="0"/>
              <a:t>vote</a:t>
            </a:r>
          </a:p>
        </p:txBody>
      </p:sp>
      <p:sp>
        <p:nvSpPr>
          <p:cNvPr id="211" name="Process 210">
            <a:extLst>
              <a:ext uri="{FF2B5EF4-FFF2-40B4-BE49-F238E27FC236}">
                <a16:creationId xmlns:a16="http://schemas.microsoft.com/office/drawing/2014/main" id="{26F42B04-9F07-E098-ADC8-B58C25572E8B}"/>
              </a:ext>
            </a:extLst>
          </p:cNvPr>
          <p:cNvSpPr/>
          <p:nvPr/>
        </p:nvSpPr>
        <p:spPr>
          <a:xfrm>
            <a:off x="10798016" y="2627580"/>
            <a:ext cx="1063422" cy="250237"/>
          </a:xfrm>
          <a:prstGeom prst="flowChartProcess">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Bookmark</a:t>
            </a:r>
          </a:p>
        </p:txBody>
      </p:sp>
      <p:sp>
        <p:nvSpPr>
          <p:cNvPr id="212" name="Process 211">
            <a:extLst>
              <a:ext uri="{FF2B5EF4-FFF2-40B4-BE49-F238E27FC236}">
                <a16:creationId xmlns:a16="http://schemas.microsoft.com/office/drawing/2014/main" id="{20D48BB7-A6CB-7483-A23B-7481360A6FA6}"/>
              </a:ext>
            </a:extLst>
          </p:cNvPr>
          <p:cNvSpPr/>
          <p:nvPr/>
        </p:nvSpPr>
        <p:spPr>
          <a:xfrm>
            <a:off x="10798016" y="3085442"/>
            <a:ext cx="1063422" cy="250238"/>
          </a:xfrm>
          <a:prstGeom prst="flowChartProcess">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Share</a:t>
            </a:r>
          </a:p>
        </p:txBody>
      </p:sp>
      <p:sp>
        <p:nvSpPr>
          <p:cNvPr id="213" name="Process 212">
            <a:extLst>
              <a:ext uri="{FF2B5EF4-FFF2-40B4-BE49-F238E27FC236}">
                <a16:creationId xmlns:a16="http://schemas.microsoft.com/office/drawing/2014/main" id="{391E55B6-7D0A-8317-68BE-AE3D7B5B41B9}"/>
              </a:ext>
            </a:extLst>
          </p:cNvPr>
          <p:cNvSpPr/>
          <p:nvPr/>
        </p:nvSpPr>
        <p:spPr>
          <a:xfrm>
            <a:off x="10798016" y="3611998"/>
            <a:ext cx="1063422" cy="716969"/>
          </a:xfrm>
          <a:prstGeom prst="flowChartProcess">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Post Detail</a:t>
            </a:r>
          </a:p>
          <a:p>
            <a:pPr algn="ctr"/>
            <a:r>
              <a:rPr lang="en-US" sz="1400" dirty="0"/>
              <a:t>(Detail Activity)</a:t>
            </a:r>
          </a:p>
        </p:txBody>
      </p:sp>
      <p:cxnSp>
        <p:nvCxnSpPr>
          <p:cNvPr id="215" name="Curved Connector 214">
            <a:extLst>
              <a:ext uri="{FF2B5EF4-FFF2-40B4-BE49-F238E27FC236}">
                <a16:creationId xmlns:a16="http://schemas.microsoft.com/office/drawing/2014/main" id="{142C7BC4-C2BD-D3ED-63F3-15E5B23C5A4F}"/>
              </a:ext>
            </a:extLst>
          </p:cNvPr>
          <p:cNvCxnSpPr>
            <a:stCxn id="206" idx="0"/>
            <a:endCxn id="210" idx="1"/>
          </p:cNvCxnSpPr>
          <p:nvPr/>
        </p:nvCxnSpPr>
        <p:spPr>
          <a:xfrm rot="5400000" flipH="1" flipV="1">
            <a:off x="9216036" y="3262539"/>
            <a:ext cx="2665921" cy="551995"/>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7" name="Curved Connector 216">
            <a:extLst>
              <a:ext uri="{FF2B5EF4-FFF2-40B4-BE49-F238E27FC236}">
                <a16:creationId xmlns:a16="http://schemas.microsoft.com/office/drawing/2014/main" id="{676D0693-FD11-6724-E24E-8F9508DD530B}"/>
              </a:ext>
            </a:extLst>
          </p:cNvPr>
          <p:cNvCxnSpPr>
            <a:stCxn id="206" idx="0"/>
            <a:endCxn id="211" idx="1"/>
          </p:cNvCxnSpPr>
          <p:nvPr/>
        </p:nvCxnSpPr>
        <p:spPr>
          <a:xfrm rot="5400000" flipH="1" flipV="1">
            <a:off x="9476109" y="3549590"/>
            <a:ext cx="2118797" cy="525017"/>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9" name="Curved Connector 218">
            <a:extLst>
              <a:ext uri="{FF2B5EF4-FFF2-40B4-BE49-F238E27FC236}">
                <a16:creationId xmlns:a16="http://schemas.microsoft.com/office/drawing/2014/main" id="{48217F51-E37A-84FF-D4A2-03B3B065E8E7}"/>
              </a:ext>
            </a:extLst>
          </p:cNvPr>
          <p:cNvCxnSpPr>
            <a:stCxn id="206" idx="0"/>
            <a:endCxn id="212" idx="1"/>
          </p:cNvCxnSpPr>
          <p:nvPr/>
        </p:nvCxnSpPr>
        <p:spPr>
          <a:xfrm rot="5400000" flipH="1" flipV="1">
            <a:off x="9705040" y="3778521"/>
            <a:ext cx="1660935" cy="525017"/>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1" name="Curved Connector 220">
            <a:extLst>
              <a:ext uri="{FF2B5EF4-FFF2-40B4-BE49-F238E27FC236}">
                <a16:creationId xmlns:a16="http://schemas.microsoft.com/office/drawing/2014/main" id="{D023ED3A-2EA1-3E91-F9BC-6A00F8FF1BA8}"/>
              </a:ext>
            </a:extLst>
          </p:cNvPr>
          <p:cNvCxnSpPr>
            <a:stCxn id="206" idx="0"/>
            <a:endCxn id="213" idx="1"/>
          </p:cNvCxnSpPr>
          <p:nvPr/>
        </p:nvCxnSpPr>
        <p:spPr>
          <a:xfrm rot="5400000" flipH="1" flipV="1">
            <a:off x="10085001" y="4158482"/>
            <a:ext cx="901013" cy="525017"/>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3" name="Curved Connector 222">
            <a:extLst>
              <a:ext uri="{FF2B5EF4-FFF2-40B4-BE49-F238E27FC236}">
                <a16:creationId xmlns:a16="http://schemas.microsoft.com/office/drawing/2014/main" id="{103F7E4D-3DED-A82B-FF4C-6CE6BDB13BC5}"/>
              </a:ext>
            </a:extLst>
          </p:cNvPr>
          <p:cNvCxnSpPr>
            <a:stCxn id="147" idx="3"/>
            <a:endCxn id="206" idx="2"/>
          </p:cNvCxnSpPr>
          <p:nvPr/>
        </p:nvCxnSpPr>
        <p:spPr>
          <a:xfrm flipV="1">
            <a:off x="6366121" y="5302816"/>
            <a:ext cx="3906878" cy="843470"/>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25" name="TextBox 224">
            <a:extLst>
              <a:ext uri="{FF2B5EF4-FFF2-40B4-BE49-F238E27FC236}">
                <a16:creationId xmlns:a16="http://schemas.microsoft.com/office/drawing/2014/main" id="{0D225B9D-8154-EFE6-4256-C14DBB55D890}"/>
              </a:ext>
            </a:extLst>
          </p:cNvPr>
          <p:cNvSpPr txBox="1"/>
          <p:nvPr/>
        </p:nvSpPr>
        <p:spPr>
          <a:xfrm rot="20533461">
            <a:off x="9105559" y="5523427"/>
            <a:ext cx="980228" cy="246221"/>
          </a:xfrm>
          <a:prstGeom prst="rect">
            <a:avLst/>
          </a:prstGeom>
          <a:noFill/>
        </p:spPr>
        <p:txBody>
          <a:bodyPr wrap="square" rtlCol="0">
            <a:spAutoFit/>
          </a:bodyPr>
          <a:lstStyle/>
          <a:p>
            <a:r>
              <a:rPr lang="en-US" sz="1000" dirty="0">
                <a:latin typeface="Times New Roman" panose="02020603050405020304" pitchFamily="18" charset="0"/>
                <a:cs typeface="Times New Roman" panose="02020603050405020304" pitchFamily="18" charset="0"/>
              </a:rPr>
              <a:t>Engagement</a:t>
            </a:r>
          </a:p>
        </p:txBody>
      </p:sp>
      <p:cxnSp>
        <p:nvCxnSpPr>
          <p:cNvPr id="229" name="Curved Connector 228">
            <a:extLst>
              <a:ext uri="{FF2B5EF4-FFF2-40B4-BE49-F238E27FC236}">
                <a16:creationId xmlns:a16="http://schemas.microsoft.com/office/drawing/2014/main" id="{CA550338-6199-25E7-8ED9-25D083A9DB47}"/>
              </a:ext>
            </a:extLst>
          </p:cNvPr>
          <p:cNvCxnSpPr>
            <a:cxnSpLocks/>
            <a:stCxn id="184" idx="1"/>
            <a:endCxn id="147" idx="2"/>
          </p:cNvCxnSpPr>
          <p:nvPr/>
        </p:nvCxnSpPr>
        <p:spPr>
          <a:xfrm rot="10800000" flipV="1">
            <a:off x="5723453" y="6541054"/>
            <a:ext cx="1517526" cy="91987"/>
          </a:xfrm>
          <a:prstGeom prst="curvedConnector4">
            <a:avLst>
              <a:gd name="adj1" fmla="val 28825"/>
              <a:gd name="adj2" fmla="val 60956"/>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4" name="Curved Connector 233">
            <a:extLst>
              <a:ext uri="{FF2B5EF4-FFF2-40B4-BE49-F238E27FC236}">
                <a16:creationId xmlns:a16="http://schemas.microsoft.com/office/drawing/2014/main" id="{731C8A66-2521-3FBD-DF30-51A770333AB6}"/>
              </a:ext>
            </a:extLst>
          </p:cNvPr>
          <p:cNvCxnSpPr>
            <a:stCxn id="185" idx="1"/>
            <a:endCxn id="147" idx="2"/>
          </p:cNvCxnSpPr>
          <p:nvPr/>
        </p:nvCxnSpPr>
        <p:spPr>
          <a:xfrm rot="10800000" flipV="1">
            <a:off x="5723454" y="6541054"/>
            <a:ext cx="4017835" cy="91987"/>
          </a:xfrm>
          <a:prstGeom prst="curvedConnector4">
            <a:avLst>
              <a:gd name="adj1" fmla="val 16023"/>
              <a:gd name="adj2" fmla="val 295402"/>
            </a:avLst>
          </a:prstGeom>
          <a:ln>
            <a:tailEnd type="triangle"/>
          </a:ln>
        </p:spPr>
        <p:style>
          <a:lnRef idx="1">
            <a:schemeClr val="accent1"/>
          </a:lnRef>
          <a:fillRef idx="0">
            <a:schemeClr val="accent1"/>
          </a:fillRef>
          <a:effectRef idx="0">
            <a:schemeClr val="accent1"/>
          </a:effectRef>
          <a:fontRef idx="minor">
            <a:schemeClr val="tx1"/>
          </a:fontRef>
        </p:style>
      </p:cxnSp>
      <p:sp>
        <p:nvSpPr>
          <p:cNvPr id="238" name="Process 237">
            <a:extLst>
              <a:ext uri="{FF2B5EF4-FFF2-40B4-BE49-F238E27FC236}">
                <a16:creationId xmlns:a16="http://schemas.microsoft.com/office/drawing/2014/main" id="{69A3812E-B270-BBF6-14E0-6C6E1709E5B6}"/>
              </a:ext>
            </a:extLst>
          </p:cNvPr>
          <p:cNvSpPr/>
          <p:nvPr/>
        </p:nvSpPr>
        <p:spPr>
          <a:xfrm>
            <a:off x="7890808" y="2920280"/>
            <a:ext cx="1066780" cy="431320"/>
          </a:xfrm>
          <a:prstGeom prst="flowChartProcess">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Create community</a:t>
            </a:r>
          </a:p>
        </p:txBody>
      </p:sp>
      <p:sp>
        <p:nvSpPr>
          <p:cNvPr id="239" name="Process 238">
            <a:extLst>
              <a:ext uri="{FF2B5EF4-FFF2-40B4-BE49-F238E27FC236}">
                <a16:creationId xmlns:a16="http://schemas.microsoft.com/office/drawing/2014/main" id="{AFA641C8-0A55-CD0B-3CAB-A32B78FAE204}"/>
              </a:ext>
            </a:extLst>
          </p:cNvPr>
          <p:cNvSpPr/>
          <p:nvPr/>
        </p:nvSpPr>
        <p:spPr>
          <a:xfrm>
            <a:off x="7940557" y="3403603"/>
            <a:ext cx="996437" cy="431320"/>
          </a:xfrm>
          <a:prstGeom prst="flowChartProcess">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Create post</a:t>
            </a:r>
          </a:p>
        </p:txBody>
      </p:sp>
      <p:cxnSp>
        <p:nvCxnSpPr>
          <p:cNvPr id="261" name="Curved Connector 260">
            <a:extLst>
              <a:ext uri="{FF2B5EF4-FFF2-40B4-BE49-F238E27FC236}">
                <a16:creationId xmlns:a16="http://schemas.microsoft.com/office/drawing/2014/main" id="{56DF9CEE-E577-925E-A187-09CC2C2C17AA}"/>
              </a:ext>
            </a:extLst>
          </p:cNvPr>
          <p:cNvCxnSpPr>
            <a:cxnSpLocks/>
            <a:stCxn id="200" idx="3"/>
            <a:endCxn id="238" idx="3"/>
          </p:cNvCxnSpPr>
          <p:nvPr/>
        </p:nvCxnSpPr>
        <p:spPr>
          <a:xfrm flipH="1" flipV="1">
            <a:off x="8957588" y="3135940"/>
            <a:ext cx="109267" cy="1222186"/>
          </a:xfrm>
          <a:prstGeom prst="curvedConnector3">
            <a:avLst>
              <a:gd name="adj1" fmla="val -20921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8" name="Curved Connector 267">
            <a:extLst>
              <a:ext uri="{FF2B5EF4-FFF2-40B4-BE49-F238E27FC236}">
                <a16:creationId xmlns:a16="http://schemas.microsoft.com/office/drawing/2014/main" id="{9D0F3BBC-1FB4-BD05-3E6C-5839285EF9E3}"/>
              </a:ext>
            </a:extLst>
          </p:cNvPr>
          <p:cNvCxnSpPr>
            <a:stCxn id="200" idx="3"/>
            <a:endCxn id="239" idx="3"/>
          </p:cNvCxnSpPr>
          <p:nvPr/>
        </p:nvCxnSpPr>
        <p:spPr>
          <a:xfrm flipH="1" flipV="1">
            <a:off x="8936994" y="3619263"/>
            <a:ext cx="129861" cy="738863"/>
          </a:xfrm>
          <a:prstGeom prst="curvedConnector3">
            <a:avLst>
              <a:gd name="adj1" fmla="val -176034"/>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0" name="Curved Connector 269">
            <a:extLst>
              <a:ext uri="{FF2B5EF4-FFF2-40B4-BE49-F238E27FC236}">
                <a16:creationId xmlns:a16="http://schemas.microsoft.com/office/drawing/2014/main" id="{4265E756-7558-3959-F7BD-5D75ED7CE4C0}"/>
              </a:ext>
            </a:extLst>
          </p:cNvPr>
          <p:cNvCxnSpPr>
            <a:stCxn id="238" idx="1"/>
            <a:endCxn id="147" idx="3"/>
          </p:cNvCxnSpPr>
          <p:nvPr/>
        </p:nvCxnSpPr>
        <p:spPr>
          <a:xfrm rot="10800000" flipV="1">
            <a:off x="6366122" y="3135940"/>
            <a:ext cx="1524687" cy="3010346"/>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2" name="Curved Connector 271">
            <a:extLst>
              <a:ext uri="{FF2B5EF4-FFF2-40B4-BE49-F238E27FC236}">
                <a16:creationId xmlns:a16="http://schemas.microsoft.com/office/drawing/2014/main" id="{1715AC08-CE95-DF4A-12DA-FF1870288CE3}"/>
              </a:ext>
            </a:extLst>
          </p:cNvPr>
          <p:cNvCxnSpPr>
            <a:stCxn id="239" idx="1"/>
            <a:endCxn id="147" idx="3"/>
          </p:cNvCxnSpPr>
          <p:nvPr/>
        </p:nvCxnSpPr>
        <p:spPr>
          <a:xfrm rot="10800000" flipV="1">
            <a:off x="6366121" y="3619262"/>
            <a:ext cx="1574436" cy="2527023"/>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275" name="Process 274">
            <a:extLst>
              <a:ext uri="{FF2B5EF4-FFF2-40B4-BE49-F238E27FC236}">
                <a16:creationId xmlns:a16="http://schemas.microsoft.com/office/drawing/2014/main" id="{268ABE90-41A5-5155-BBCD-AFF6BEB932AF}"/>
              </a:ext>
            </a:extLst>
          </p:cNvPr>
          <p:cNvSpPr/>
          <p:nvPr/>
        </p:nvSpPr>
        <p:spPr>
          <a:xfrm>
            <a:off x="10624975" y="5373514"/>
            <a:ext cx="1063422" cy="250238"/>
          </a:xfrm>
          <a:prstGeom prst="flowChartProcess">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Share</a:t>
            </a:r>
          </a:p>
        </p:txBody>
      </p:sp>
      <p:sp>
        <p:nvSpPr>
          <p:cNvPr id="276" name="Process 275">
            <a:extLst>
              <a:ext uri="{FF2B5EF4-FFF2-40B4-BE49-F238E27FC236}">
                <a16:creationId xmlns:a16="http://schemas.microsoft.com/office/drawing/2014/main" id="{02FE971C-6941-67AB-F375-9346C3806B98}"/>
              </a:ext>
            </a:extLst>
          </p:cNvPr>
          <p:cNvSpPr/>
          <p:nvPr/>
        </p:nvSpPr>
        <p:spPr>
          <a:xfrm>
            <a:off x="10624975" y="5684644"/>
            <a:ext cx="1063422" cy="250238"/>
          </a:xfrm>
          <a:prstGeom prst="flowChartProcess">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Comment</a:t>
            </a:r>
          </a:p>
        </p:txBody>
      </p:sp>
      <p:sp>
        <p:nvSpPr>
          <p:cNvPr id="277" name="Process 276">
            <a:extLst>
              <a:ext uri="{FF2B5EF4-FFF2-40B4-BE49-F238E27FC236}">
                <a16:creationId xmlns:a16="http://schemas.microsoft.com/office/drawing/2014/main" id="{B47D03D6-2D9F-0609-C62E-18C51C90C6F2}"/>
              </a:ext>
            </a:extLst>
          </p:cNvPr>
          <p:cNvSpPr/>
          <p:nvPr/>
        </p:nvSpPr>
        <p:spPr>
          <a:xfrm>
            <a:off x="11013350" y="6155729"/>
            <a:ext cx="1063422" cy="431319"/>
          </a:xfrm>
          <a:prstGeom prst="flowChartProcess">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Up/Down vote</a:t>
            </a:r>
          </a:p>
        </p:txBody>
      </p:sp>
      <p:cxnSp>
        <p:nvCxnSpPr>
          <p:cNvPr id="285" name="Curved Connector 284">
            <a:extLst>
              <a:ext uri="{FF2B5EF4-FFF2-40B4-BE49-F238E27FC236}">
                <a16:creationId xmlns:a16="http://schemas.microsoft.com/office/drawing/2014/main" id="{9F95CFD9-C18D-B844-54EB-8618598B85ED}"/>
              </a:ext>
            </a:extLst>
          </p:cNvPr>
          <p:cNvCxnSpPr>
            <a:stCxn id="213" idx="2"/>
            <a:endCxn id="275" idx="0"/>
          </p:cNvCxnSpPr>
          <p:nvPr/>
        </p:nvCxnSpPr>
        <p:spPr>
          <a:xfrm rot="5400000">
            <a:off x="10720934" y="4764720"/>
            <a:ext cx="1044547" cy="173041"/>
          </a:xfrm>
          <a:prstGeom prst="curvedConnector3">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87" name="Curved Connector 286">
            <a:extLst>
              <a:ext uri="{FF2B5EF4-FFF2-40B4-BE49-F238E27FC236}">
                <a16:creationId xmlns:a16="http://schemas.microsoft.com/office/drawing/2014/main" id="{E3B8C3A7-D64A-68E0-48F0-42A4CCA921F6}"/>
              </a:ext>
            </a:extLst>
          </p:cNvPr>
          <p:cNvCxnSpPr>
            <a:stCxn id="213" idx="3"/>
            <a:endCxn id="276" idx="3"/>
          </p:cNvCxnSpPr>
          <p:nvPr/>
        </p:nvCxnSpPr>
        <p:spPr>
          <a:xfrm flipH="1">
            <a:off x="11688397" y="3970483"/>
            <a:ext cx="173041" cy="1839280"/>
          </a:xfrm>
          <a:prstGeom prst="curvedConnector3">
            <a:avLst>
              <a:gd name="adj1" fmla="val -132107"/>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89" name="Curved Connector 288">
            <a:extLst>
              <a:ext uri="{FF2B5EF4-FFF2-40B4-BE49-F238E27FC236}">
                <a16:creationId xmlns:a16="http://schemas.microsoft.com/office/drawing/2014/main" id="{1AF68D8B-6973-43F2-A12A-8D6287825E78}"/>
              </a:ext>
            </a:extLst>
          </p:cNvPr>
          <p:cNvCxnSpPr>
            <a:stCxn id="276" idx="2"/>
            <a:endCxn id="277" idx="0"/>
          </p:cNvCxnSpPr>
          <p:nvPr/>
        </p:nvCxnSpPr>
        <p:spPr>
          <a:xfrm rot="16200000" flipH="1">
            <a:off x="11240450" y="5851117"/>
            <a:ext cx="220847" cy="388375"/>
          </a:xfrm>
          <a:prstGeom prst="curvedConnector3">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91" name="Curved Connector 290">
            <a:extLst>
              <a:ext uri="{FF2B5EF4-FFF2-40B4-BE49-F238E27FC236}">
                <a16:creationId xmlns:a16="http://schemas.microsoft.com/office/drawing/2014/main" id="{F6F16A53-9A81-7D74-40D2-35995D102B6B}"/>
              </a:ext>
            </a:extLst>
          </p:cNvPr>
          <p:cNvCxnSpPr>
            <a:stCxn id="213" idx="3"/>
            <a:endCxn id="277" idx="0"/>
          </p:cNvCxnSpPr>
          <p:nvPr/>
        </p:nvCxnSpPr>
        <p:spPr>
          <a:xfrm flipH="1">
            <a:off x="11545061" y="3970483"/>
            <a:ext cx="316377" cy="2185246"/>
          </a:xfrm>
          <a:prstGeom prst="curvedConnector4">
            <a:avLst>
              <a:gd name="adj1" fmla="val -72256"/>
              <a:gd name="adj2" fmla="val 92546"/>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13" name="Rectangle 312">
            <a:extLst>
              <a:ext uri="{FF2B5EF4-FFF2-40B4-BE49-F238E27FC236}">
                <a16:creationId xmlns:a16="http://schemas.microsoft.com/office/drawing/2014/main" id="{8B76E54D-0881-C3B6-5D37-61D6A9DBE48F}"/>
              </a:ext>
            </a:extLst>
          </p:cNvPr>
          <p:cNvSpPr/>
          <p:nvPr/>
        </p:nvSpPr>
        <p:spPr>
          <a:xfrm>
            <a:off x="7970921" y="1838848"/>
            <a:ext cx="897148" cy="414068"/>
          </a:xfrm>
          <a:prstGeom prst="rect">
            <a:avLst/>
          </a:prstGeom>
          <a:solidFill>
            <a:srgbClr val="0D460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Logout</a:t>
            </a:r>
          </a:p>
        </p:txBody>
      </p:sp>
      <p:sp>
        <p:nvSpPr>
          <p:cNvPr id="315" name="Terminator 314">
            <a:extLst>
              <a:ext uri="{FF2B5EF4-FFF2-40B4-BE49-F238E27FC236}">
                <a16:creationId xmlns:a16="http://schemas.microsoft.com/office/drawing/2014/main" id="{74E54672-B4BF-0A6D-E8C4-197394D43CA4}"/>
              </a:ext>
            </a:extLst>
          </p:cNvPr>
          <p:cNvSpPr/>
          <p:nvPr/>
        </p:nvSpPr>
        <p:spPr>
          <a:xfrm>
            <a:off x="8072173" y="2416676"/>
            <a:ext cx="719815" cy="392674"/>
          </a:xfrm>
          <a:prstGeom prst="flowChartTerminator">
            <a:avLst/>
          </a:prstGeom>
          <a:solidFill>
            <a:srgbClr val="0D460A"/>
          </a:solidFill>
        </p:spPr>
        <p:style>
          <a:lnRef idx="3">
            <a:schemeClr val="lt1"/>
          </a:lnRef>
          <a:fillRef idx="1">
            <a:schemeClr val="accent2"/>
          </a:fillRef>
          <a:effectRef idx="1">
            <a:schemeClr val="accent2"/>
          </a:effectRef>
          <a:fontRef idx="minor">
            <a:schemeClr val="lt1"/>
          </a:fontRef>
        </p:style>
        <p:txBody>
          <a:bodyPr rtlCol="0" anchor="ctr"/>
          <a:lstStyle/>
          <a:p>
            <a:pPr algn="ctr"/>
            <a:r>
              <a:rPr lang="en-US" sz="1600" dirty="0">
                <a:latin typeface="Times New Roman" panose="02020603050405020304" pitchFamily="18" charset="0"/>
                <a:cs typeface="Times New Roman" panose="02020603050405020304" pitchFamily="18" charset="0"/>
              </a:rPr>
              <a:t>End</a:t>
            </a:r>
            <a:endParaRPr lang="en-US" dirty="0">
              <a:latin typeface="Times New Roman" panose="02020603050405020304" pitchFamily="18" charset="0"/>
              <a:cs typeface="Times New Roman" panose="02020603050405020304" pitchFamily="18" charset="0"/>
            </a:endParaRPr>
          </a:p>
        </p:txBody>
      </p:sp>
      <p:cxnSp>
        <p:nvCxnSpPr>
          <p:cNvPr id="317" name="Curved Connector 316">
            <a:extLst>
              <a:ext uri="{FF2B5EF4-FFF2-40B4-BE49-F238E27FC236}">
                <a16:creationId xmlns:a16="http://schemas.microsoft.com/office/drawing/2014/main" id="{18C69B35-C09E-4CBA-82B3-6E0E480C0703}"/>
              </a:ext>
            </a:extLst>
          </p:cNvPr>
          <p:cNvCxnSpPr>
            <a:stCxn id="147" idx="3"/>
            <a:endCxn id="313" idx="1"/>
          </p:cNvCxnSpPr>
          <p:nvPr/>
        </p:nvCxnSpPr>
        <p:spPr>
          <a:xfrm flipV="1">
            <a:off x="6366121" y="2045882"/>
            <a:ext cx="1604800" cy="4100404"/>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9" name="Straight Arrow Connector 318">
            <a:extLst>
              <a:ext uri="{FF2B5EF4-FFF2-40B4-BE49-F238E27FC236}">
                <a16:creationId xmlns:a16="http://schemas.microsoft.com/office/drawing/2014/main" id="{C13D28BF-6519-250F-EAF8-25EAF8302413}"/>
              </a:ext>
            </a:extLst>
          </p:cNvPr>
          <p:cNvCxnSpPr>
            <a:stCxn id="313" idx="2"/>
            <a:endCxn id="315" idx="0"/>
          </p:cNvCxnSpPr>
          <p:nvPr/>
        </p:nvCxnSpPr>
        <p:spPr>
          <a:xfrm>
            <a:off x="8419495" y="2252916"/>
            <a:ext cx="12586" cy="1637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1" name="Curved Connector 320">
            <a:extLst>
              <a:ext uri="{FF2B5EF4-FFF2-40B4-BE49-F238E27FC236}">
                <a16:creationId xmlns:a16="http://schemas.microsoft.com/office/drawing/2014/main" id="{95363A21-2C2E-AF64-3782-3F0CA29AC42D}"/>
              </a:ext>
            </a:extLst>
          </p:cNvPr>
          <p:cNvCxnSpPr>
            <a:stCxn id="213" idx="1"/>
            <a:endCxn id="313" idx="3"/>
          </p:cNvCxnSpPr>
          <p:nvPr/>
        </p:nvCxnSpPr>
        <p:spPr>
          <a:xfrm rot="10800000">
            <a:off x="8868070" y="2045883"/>
            <a:ext cx="1929947" cy="1924601"/>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338" name="Process 337">
            <a:extLst>
              <a:ext uri="{FF2B5EF4-FFF2-40B4-BE49-F238E27FC236}">
                <a16:creationId xmlns:a16="http://schemas.microsoft.com/office/drawing/2014/main" id="{EB1E55A4-84C6-25A5-C4AE-CF8DFC071C8B}"/>
              </a:ext>
            </a:extLst>
          </p:cNvPr>
          <p:cNvSpPr/>
          <p:nvPr/>
        </p:nvSpPr>
        <p:spPr>
          <a:xfrm>
            <a:off x="8642556" y="4866477"/>
            <a:ext cx="848598" cy="431320"/>
          </a:xfrm>
          <a:prstGeom prst="flowChartProcess">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Search </a:t>
            </a:r>
          </a:p>
          <a:p>
            <a:pPr algn="ctr"/>
            <a:r>
              <a:rPr lang="en-US" sz="1400" dirty="0"/>
              <a:t>posts</a:t>
            </a:r>
          </a:p>
        </p:txBody>
      </p:sp>
      <p:cxnSp>
        <p:nvCxnSpPr>
          <p:cNvPr id="353" name="Curved Connector 352">
            <a:extLst>
              <a:ext uri="{FF2B5EF4-FFF2-40B4-BE49-F238E27FC236}">
                <a16:creationId xmlns:a16="http://schemas.microsoft.com/office/drawing/2014/main" id="{03D3B2C5-3156-8278-0BBA-CD438C73BEB2}"/>
              </a:ext>
            </a:extLst>
          </p:cNvPr>
          <p:cNvCxnSpPr>
            <a:stCxn id="147" idx="3"/>
            <a:endCxn id="338" idx="2"/>
          </p:cNvCxnSpPr>
          <p:nvPr/>
        </p:nvCxnSpPr>
        <p:spPr>
          <a:xfrm flipV="1">
            <a:off x="6366121" y="5297797"/>
            <a:ext cx="2700734" cy="848489"/>
          </a:xfrm>
          <a:prstGeom prst="curvedConnector2">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54" name="Process 353">
            <a:extLst>
              <a:ext uri="{FF2B5EF4-FFF2-40B4-BE49-F238E27FC236}">
                <a16:creationId xmlns:a16="http://schemas.microsoft.com/office/drawing/2014/main" id="{E7B94897-ACB2-9591-32F9-973B8F950AE9}"/>
              </a:ext>
            </a:extLst>
          </p:cNvPr>
          <p:cNvSpPr/>
          <p:nvPr/>
        </p:nvSpPr>
        <p:spPr>
          <a:xfrm>
            <a:off x="3675647" y="1848196"/>
            <a:ext cx="1050494" cy="431320"/>
          </a:xfrm>
          <a:prstGeom prst="flowChartProcess">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Search</a:t>
            </a:r>
          </a:p>
          <a:p>
            <a:pPr algn="ctr"/>
            <a:r>
              <a:rPr lang="en-US" sz="1200" dirty="0"/>
              <a:t>Communities</a:t>
            </a:r>
          </a:p>
        </p:txBody>
      </p:sp>
      <p:cxnSp>
        <p:nvCxnSpPr>
          <p:cNvPr id="356" name="Curved Connector 355">
            <a:extLst>
              <a:ext uri="{FF2B5EF4-FFF2-40B4-BE49-F238E27FC236}">
                <a16:creationId xmlns:a16="http://schemas.microsoft.com/office/drawing/2014/main" id="{A0D5AC58-A95A-E06B-2F13-9C80907FF506}"/>
              </a:ext>
            </a:extLst>
          </p:cNvPr>
          <p:cNvCxnSpPr>
            <a:stCxn id="57" idx="0"/>
            <a:endCxn id="354" idx="2"/>
          </p:cNvCxnSpPr>
          <p:nvPr/>
        </p:nvCxnSpPr>
        <p:spPr>
          <a:xfrm rot="16200000" flipV="1">
            <a:off x="3821541" y="2658870"/>
            <a:ext cx="763741" cy="5033"/>
          </a:xfrm>
          <a:prstGeom prst="curvedConnector3">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57" name="TextBox 356">
            <a:extLst>
              <a:ext uri="{FF2B5EF4-FFF2-40B4-BE49-F238E27FC236}">
                <a16:creationId xmlns:a16="http://schemas.microsoft.com/office/drawing/2014/main" id="{D0167FF1-1F26-90C6-009D-5653996E301E}"/>
              </a:ext>
            </a:extLst>
          </p:cNvPr>
          <p:cNvSpPr txBox="1"/>
          <p:nvPr/>
        </p:nvSpPr>
        <p:spPr>
          <a:xfrm rot="16200000">
            <a:off x="3606504" y="2472217"/>
            <a:ext cx="980228" cy="246221"/>
          </a:xfrm>
          <a:prstGeom prst="rect">
            <a:avLst/>
          </a:prstGeom>
          <a:noFill/>
        </p:spPr>
        <p:txBody>
          <a:bodyPr wrap="square" rtlCol="0">
            <a:spAutoFit/>
          </a:bodyPr>
          <a:lstStyle/>
          <a:p>
            <a:r>
              <a:rPr lang="en-US" sz="1000" dirty="0">
                <a:latin typeface="Times New Roman" panose="02020603050405020304" pitchFamily="18" charset="0"/>
                <a:cs typeface="Times New Roman" panose="02020603050405020304" pitchFamily="18" charset="0"/>
              </a:rPr>
              <a:t>Engagement</a:t>
            </a:r>
          </a:p>
        </p:txBody>
      </p:sp>
      <p:sp>
        <p:nvSpPr>
          <p:cNvPr id="358" name="Process 357">
            <a:extLst>
              <a:ext uri="{FF2B5EF4-FFF2-40B4-BE49-F238E27FC236}">
                <a16:creationId xmlns:a16="http://schemas.microsoft.com/office/drawing/2014/main" id="{49A2CEE1-6E61-EDE2-6664-0B7A805CE5B7}"/>
              </a:ext>
            </a:extLst>
          </p:cNvPr>
          <p:cNvSpPr/>
          <p:nvPr/>
        </p:nvSpPr>
        <p:spPr>
          <a:xfrm>
            <a:off x="3065860" y="4399726"/>
            <a:ext cx="1050494" cy="431320"/>
          </a:xfrm>
          <a:prstGeom prst="flowChartProcess">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Fetch communities</a:t>
            </a:r>
          </a:p>
        </p:txBody>
      </p:sp>
      <p:cxnSp>
        <p:nvCxnSpPr>
          <p:cNvPr id="369" name="Curved Connector 368">
            <a:extLst>
              <a:ext uri="{FF2B5EF4-FFF2-40B4-BE49-F238E27FC236}">
                <a16:creationId xmlns:a16="http://schemas.microsoft.com/office/drawing/2014/main" id="{4DEDE7C6-BC7C-C22E-F0B2-28BD65E1FF8C}"/>
              </a:ext>
            </a:extLst>
          </p:cNvPr>
          <p:cNvCxnSpPr>
            <a:cxnSpLocks/>
            <a:stCxn id="358" idx="0"/>
            <a:endCxn id="57" idx="2"/>
          </p:cNvCxnSpPr>
          <p:nvPr/>
        </p:nvCxnSpPr>
        <p:spPr>
          <a:xfrm rot="5400000" flipH="1" flipV="1">
            <a:off x="3540825" y="3734624"/>
            <a:ext cx="715384" cy="614820"/>
          </a:xfrm>
          <a:prstGeom prst="curvedConnector3">
            <a:avLst>
              <a:gd name="adj1" fmla="val 50000"/>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72" name="TextBox 371">
            <a:extLst>
              <a:ext uri="{FF2B5EF4-FFF2-40B4-BE49-F238E27FC236}">
                <a16:creationId xmlns:a16="http://schemas.microsoft.com/office/drawing/2014/main" id="{13D519AE-6823-D9A9-3AEC-B035BE11DC48}"/>
              </a:ext>
            </a:extLst>
          </p:cNvPr>
          <p:cNvSpPr txBox="1"/>
          <p:nvPr/>
        </p:nvSpPr>
        <p:spPr>
          <a:xfrm>
            <a:off x="3421512" y="3571027"/>
            <a:ext cx="723349" cy="461665"/>
          </a:xfrm>
          <a:prstGeom prst="rect">
            <a:avLst/>
          </a:prstGeom>
          <a:noFill/>
        </p:spPr>
        <p:txBody>
          <a:bodyPr wrap="square" rtlCol="0">
            <a:spAutoFit/>
          </a:bodyPr>
          <a:lstStyle/>
          <a:p>
            <a:pPr algn="ctr"/>
            <a:r>
              <a:rPr lang="en-US" sz="800" dirty="0">
                <a:latin typeface="Times New Roman" panose="02020603050405020304" pitchFamily="18" charset="0"/>
                <a:cs typeface="Times New Roman" panose="02020603050405020304" pitchFamily="18" charset="0"/>
              </a:rPr>
              <a:t>Show all apps </a:t>
            </a:r>
          </a:p>
          <a:p>
            <a:pPr algn="ctr"/>
            <a:r>
              <a:rPr lang="en-US" sz="800" dirty="0">
                <a:latin typeface="Times New Roman" panose="02020603050405020304" pitchFamily="18" charset="0"/>
                <a:cs typeface="Times New Roman" panose="02020603050405020304" pitchFamily="18" charset="0"/>
              </a:rPr>
              <a:t>communities</a:t>
            </a:r>
          </a:p>
        </p:txBody>
      </p:sp>
      <p:cxnSp>
        <p:nvCxnSpPr>
          <p:cNvPr id="400" name="Curved Connector 399">
            <a:extLst>
              <a:ext uri="{FF2B5EF4-FFF2-40B4-BE49-F238E27FC236}">
                <a16:creationId xmlns:a16="http://schemas.microsoft.com/office/drawing/2014/main" id="{331FEC59-094B-40AB-905A-85A741095EC4}"/>
              </a:ext>
            </a:extLst>
          </p:cNvPr>
          <p:cNvCxnSpPr>
            <a:stCxn id="238" idx="1"/>
            <a:endCxn id="159" idx="0"/>
          </p:cNvCxnSpPr>
          <p:nvPr/>
        </p:nvCxnSpPr>
        <p:spPr>
          <a:xfrm rot="10800000">
            <a:off x="5723452" y="2799274"/>
            <a:ext cx="2167356" cy="336667"/>
          </a:xfrm>
          <a:prstGeom prst="curvedConnector4">
            <a:avLst>
              <a:gd name="adj1" fmla="val 34279"/>
              <a:gd name="adj2" fmla="val 16790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2" name="Curved Connector 401">
            <a:extLst>
              <a:ext uri="{FF2B5EF4-FFF2-40B4-BE49-F238E27FC236}">
                <a16:creationId xmlns:a16="http://schemas.microsoft.com/office/drawing/2014/main" id="{42D37124-27D0-F516-98D8-72A0EDC5DC99}"/>
              </a:ext>
            </a:extLst>
          </p:cNvPr>
          <p:cNvCxnSpPr>
            <a:stCxn id="239" idx="1"/>
            <a:endCxn id="159" idx="0"/>
          </p:cNvCxnSpPr>
          <p:nvPr/>
        </p:nvCxnSpPr>
        <p:spPr>
          <a:xfrm rot="10800000">
            <a:off x="5723453" y="2799273"/>
            <a:ext cx="2217105" cy="819990"/>
          </a:xfrm>
          <a:prstGeom prst="curvedConnector4">
            <a:avLst>
              <a:gd name="adj1" fmla="val 34632"/>
              <a:gd name="adj2" fmla="val 127878"/>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6" name="Curved Connector 405">
            <a:extLst>
              <a:ext uri="{FF2B5EF4-FFF2-40B4-BE49-F238E27FC236}">
                <a16:creationId xmlns:a16="http://schemas.microsoft.com/office/drawing/2014/main" id="{79B2A8F6-CC6C-8CD6-6530-DAFD19C3D08B}"/>
              </a:ext>
            </a:extLst>
          </p:cNvPr>
          <p:cNvCxnSpPr>
            <a:stCxn id="338" idx="3"/>
            <a:endCxn id="206" idx="1"/>
          </p:cNvCxnSpPr>
          <p:nvPr/>
        </p:nvCxnSpPr>
        <p:spPr>
          <a:xfrm>
            <a:off x="9491154" y="5082137"/>
            <a:ext cx="250134" cy="5019"/>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A0D909C3-5F5A-84C8-7D76-68FC774B518D}"/>
              </a:ext>
            </a:extLst>
          </p:cNvPr>
          <p:cNvSpPr txBox="1"/>
          <p:nvPr/>
        </p:nvSpPr>
        <p:spPr>
          <a:xfrm>
            <a:off x="7100614" y="1672155"/>
            <a:ext cx="1075629" cy="430887"/>
          </a:xfrm>
          <a:prstGeom prst="rect">
            <a:avLst/>
          </a:prstGeom>
          <a:noFill/>
        </p:spPr>
        <p:txBody>
          <a:bodyPr wrap="square" rtlCol="0">
            <a:spAutoFit/>
          </a:bodyPr>
          <a:lstStyle/>
          <a:p>
            <a:r>
              <a:rPr lang="en-US" sz="1100" dirty="0">
                <a:latin typeface="Times New Roman" panose="02020603050405020304" pitchFamily="18" charset="0"/>
                <a:cs typeface="Times New Roman" panose="02020603050405020304" pitchFamily="18" charset="0"/>
              </a:rPr>
              <a:t>Open profile dialog box</a:t>
            </a:r>
          </a:p>
        </p:txBody>
      </p:sp>
      <p:sp>
        <p:nvSpPr>
          <p:cNvPr id="19" name="TextBox 18">
            <a:extLst>
              <a:ext uri="{FF2B5EF4-FFF2-40B4-BE49-F238E27FC236}">
                <a16:creationId xmlns:a16="http://schemas.microsoft.com/office/drawing/2014/main" id="{F143E466-07CA-D574-2FF3-CF4EFB27B00A}"/>
              </a:ext>
            </a:extLst>
          </p:cNvPr>
          <p:cNvSpPr txBox="1"/>
          <p:nvPr/>
        </p:nvSpPr>
        <p:spPr>
          <a:xfrm>
            <a:off x="2864326" y="3586834"/>
            <a:ext cx="590849" cy="461665"/>
          </a:xfrm>
          <a:prstGeom prst="rect">
            <a:avLst/>
          </a:prstGeom>
          <a:noFill/>
        </p:spPr>
        <p:txBody>
          <a:bodyPr wrap="square" rtlCol="0">
            <a:spAutoFit/>
          </a:bodyPr>
          <a:lstStyle/>
          <a:p>
            <a:pPr algn="ctr"/>
            <a:r>
              <a:rPr lang="en-US" sz="800" dirty="0">
                <a:highlight>
                  <a:srgbClr val="FFFF00"/>
                </a:highlight>
                <a:latin typeface="Times New Roman" panose="02020603050405020304" pitchFamily="18" charset="0"/>
                <a:cs typeface="Times New Roman" panose="02020603050405020304" pitchFamily="18" charset="0"/>
              </a:rPr>
              <a:t>For the </a:t>
            </a:r>
          </a:p>
          <a:p>
            <a:pPr algn="ctr"/>
            <a:r>
              <a:rPr lang="en-US" sz="800" dirty="0">
                <a:highlight>
                  <a:srgbClr val="FFFF00"/>
                </a:highlight>
                <a:latin typeface="Times New Roman" panose="02020603050405020304" pitchFamily="18" charset="0"/>
                <a:cs typeface="Times New Roman" panose="02020603050405020304" pitchFamily="18" charset="0"/>
              </a:rPr>
              <a:t>first-time </a:t>
            </a:r>
          </a:p>
          <a:p>
            <a:pPr algn="ctr"/>
            <a:r>
              <a:rPr lang="en-US" sz="800" dirty="0">
                <a:highlight>
                  <a:srgbClr val="FFFF00"/>
                </a:highlight>
                <a:latin typeface="Times New Roman" panose="02020603050405020304" pitchFamily="18" charset="0"/>
                <a:cs typeface="Times New Roman" panose="02020603050405020304" pitchFamily="18" charset="0"/>
              </a:rPr>
              <a:t>user</a:t>
            </a:r>
          </a:p>
        </p:txBody>
      </p:sp>
      <p:sp>
        <p:nvSpPr>
          <p:cNvPr id="20" name="TextBox 19">
            <a:extLst>
              <a:ext uri="{FF2B5EF4-FFF2-40B4-BE49-F238E27FC236}">
                <a16:creationId xmlns:a16="http://schemas.microsoft.com/office/drawing/2014/main" id="{3B0568E8-BBDC-E048-0D01-6887B0A3D27A}"/>
              </a:ext>
            </a:extLst>
          </p:cNvPr>
          <p:cNvSpPr txBox="1"/>
          <p:nvPr/>
        </p:nvSpPr>
        <p:spPr>
          <a:xfrm>
            <a:off x="9577137" y="1299411"/>
            <a:ext cx="184731" cy="369332"/>
          </a:xfrm>
          <a:prstGeom prst="rect">
            <a:avLst/>
          </a:prstGeom>
          <a:noFill/>
        </p:spPr>
        <p:txBody>
          <a:bodyPr wrap="none" rtlCol="0">
            <a:spAutoFit/>
          </a:bodyPr>
          <a:lstStyle/>
          <a:p>
            <a:endParaRPr lang="en-US"/>
          </a:p>
        </p:txBody>
      </p:sp>
    </p:spTree>
    <p:extLst>
      <p:ext uri="{BB962C8B-B14F-4D97-AF65-F5344CB8AC3E}">
        <p14:creationId xmlns:p14="http://schemas.microsoft.com/office/powerpoint/2010/main" val="18112186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64E826A-ABAB-1B19-DEA2-711C96EBF55E}"/>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6E04E9A9-F8A4-FF46-C51F-171AA6D105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D2CEAB1-CB54-FC60-6DE8-F059B5CCF0E8}"/>
              </a:ext>
            </a:extLst>
          </p:cNvPr>
          <p:cNvSpPr>
            <a:spLocks noGrp="1"/>
          </p:cNvSpPr>
          <p:nvPr>
            <p:ph type="title"/>
          </p:nvPr>
        </p:nvSpPr>
        <p:spPr>
          <a:xfrm>
            <a:off x="838200" y="365125"/>
            <a:ext cx="10515600" cy="1325563"/>
          </a:xfrm>
        </p:spPr>
        <p:txBody>
          <a:bodyPr>
            <a:normAutofit/>
          </a:bodyPr>
          <a:lstStyle/>
          <a:p>
            <a:pPr>
              <a:lnSpc>
                <a:spcPct val="100000"/>
              </a:lnSpc>
            </a:pPr>
            <a:r>
              <a:rPr lang="en-US" sz="4200" b="1" dirty="0">
                <a:latin typeface="Times New Roman" panose="02020603050405020304" pitchFamily="18" charset="0"/>
                <a:cs typeface="Times New Roman" panose="02020603050405020304" pitchFamily="18" charset="0"/>
              </a:rPr>
              <a:t>Implementation flowchart-02 (U/I part-01)</a:t>
            </a:r>
            <a:endParaRPr lang="ru-RU" sz="4200" b="1" dirty="0">
              <a:latin typeface="Times New Roman" panose="02020603050405020304" pitchFamily="18" charset="0"/>
              <a:cs typeface="Times New Roman" panose="02020603050405020304" pitchFamily="18" charset="0"/>
            </a:endParaRPr>
          </a:p>
        </p:txBody>
      </p:sp>
      <p:sp>
        <p:nvSpPr>
          <p:cNvPr id="26" name="sketch line">
            <a:extLst>
              <a:ext uri="{FF2B5EF4-FFF2-40B4-BE49-F238E27FC236}">
                <a16:creationId xmlns:a16="http://schemas.microsoft.com/office/drawing/2014/main" id="{A51FF98C-FB5E-3F4C-BCAC-33F5A1A13E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4">
            <a:extLst>
              <a:ext uri="{FF2B5EF4-FFF2-40B4-BE49-F238E27FC236}">
                <a16:creationId xmlns:a16="http://schemas.microsoft.com/office/drawing/2014/main" id="{18171FD1-34A6-422A-C672-9AFB27FAB4BD}"/>
              </a:ext>
            </a:extLst>
          </p:cNvPr>
          <p:cNvSpPr>
            <a:spLocks noGrp="1"/>
          </p:cNvSpPr>
          <p:nvPr>
            <p:ph idx="1"/>
          </p:nvPr>
        </p:nvSpPr>
        <p:spPr>
          <a:xfrm>
            <a:off x="838200" y="1929384"/>
            <a:ext cx="10515600" cy="4251960"/>
          </a:xfrm>
        </p:spPr>
        <p:txBody>
          <a:bodyPr>
            <a:normAutofit/>
          </a:bodyPr>
          <a:lstStyle/>
          <a:p>
            <a:pPr marL="457200" lvl="1" indent="0">
              <a:buNone/>
            </a:pPr>
            <a:endParaRPr lang="en-US" sz="2200">
              <a:latin typeface="Times New Roman" panose="02020603050405020304" pitchFamily="18" charset="0"/>
              <a:cs typeface="Times New Roman" panose="02020603050405020304" pitchFamily="18" charset="0"/>
            </a:endParaRPr>
          </a:p>
          <a:p>
            <a:pPr marL="0" indent="0">
              <a:buNone/>
            </a:pPr>
            <a:endParaRPr lang="en-US" sz="22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203030C8-8863-DF94-B387-459BF54545CA}"/>
              </a:ext>
            </a:extLst>
          </p:cNvPr>
          <p:cNvPicPr>
            <a:picLocks noChangeAspect="1"/>
          </p:cNvPicPr>
          <p:nvPr/>
        </p:nvPicPr>
        <p:blipFill>
          <a:blip r:embed="rId2"/>
          <a:stretch>
            <a:fillRect/>
          </a:stretch>
        </p:blipFill>
        <p:spPr>
          <a:xfrm>
            <a:off x="930874" y="2518134"/>
            <a:ext cx="3319849" cy="3771468"/>
          </a:xfrm>
          <a:prstGeom prst="rect">
            <a:avLst/>
          </a:prstGeom>
        </p:spPr>
      </p:pic>
      <p:pic>
        <p:nvPicPr>
          <p:cNvPr id="11" name="Picture 10">
            <a:extLst>
              <a:ext uri="{FF2B5EF4-FFF2-40B4-BE49-F238E27FC236}">
                <a16:creationId xmlns:a16="http://schemas.microsoft.com/office/drawing/2014/main" id="{7A3FC71E-4A2E-E0D4-F015-3026D772CA6B}"/>
              </a:ext>
            </a:extLst>
          </p:cNvPr>
          <p:cNvPicPr>
            <a:picLocks noChangeAspect="1"/>
          </p:cNvPicPr>
          <p:nvPr/>
        </p:nvPicPr>
        <p:blipFill>
          <a:blip r:embed="rId3"/>
          <a:stretch>
            <a:fillRect/>
          </a:stretch>
        </p:blipFill>
        <p:spPr>
          <a:xfrm>
            <a:off x="4577148" y="2518134"/>
            <a:ext cx="3130379" cy="3771468"/>
          </a:xfrm>
          <a:prstGeom prst="rect">
            <a:avLst/>
          </a:prstGeom>
        </p:spPr>
      </p:pic>
      <p:pic>
        <p:nvPicPr>
          <p:cNvPr id="13" name="Picture 12">
            <a:extLst>
              <a:ext uri="{FF2B5EF4-FFF2-40B4-BE49-F238E27FC236}">
                <a16:creationId xmlns:a16="http://schemas.microsoft.com/office/drawing/2014/main" id="{45A283F5-02ED-C2AD-AAB5-11E41A376E9F}"/>
              </a:ext>
            </a:extLst>
          </p:cNvPr>
          <p:cNvPicPr>
            <a:picLocks noChangeAspect="1"/>
          </p:cNvPicPr>
          <p:nvPr/>
        </p:nvPicPr>
        <p:blipFill>
          <a:blip r:embed="rId4"/>
          <a:stretch>
            <a:fillRect/>
          </a:stretch>
        </p:blipFill>
        <p:spPr>
          <a:xfrm>
            <a:off x="8100543" y="2518134"/>
            <a:ext cx="3253257" cy="3771468"/>
          </a:xfrm>
          <a:prstGeom prst="rect">
            <a:avLst/>
          </a:prstGeom>
        </p:spPr>
      </p:pic>
      <p:graphicFrame>
        <p:nvGraphicFramePr>
          <p:cNvPr id="15" name="Table 14">
            <a:extLst>
              <a:ext uri="{FF2B5EF4-FFF2-40B4-BE49-F238E27FC236}">
                <a16:creationId xmlns:a16="http://schemas.microsoft.com/office/drawing/2014/main" id="{3DBF3CEF-53E3-8D11-5BC5-9A55B255A258}"/>
              </a:ext>
            </a:extLst>
          </p:cNvPr>
          <p:cNvGraphicFramePr>
            <a:graphicFrameLocks noGrp="1"/>
          </p:cNvGraphicFramePr>
          <p:nvPr>
            <p:extLst>
              <p:ext uri="{D42A27DB-BD31-4B8C-83A1-F6EECF244321}">
                <p14:modId xmlns:p14="http://schemas.microsoft.com/office/powerpoint/2010/main" val="1354926729"/>
              </p:ext>
            </p:extLst>
          </p:nvPr>
        </p:nvGraphicFramePr>
        <p:xfrm>
          <a:off x="930875" y="2147294"/>
          <a:ext cx="10422924" cy="370840"/>
        </p:xfrm>
        <a:graphic>
          <a:graphicData uri="http://schemas.openxmlformats.org/drawingml/2006/table">
            <a:tbl>
              <a:tblPr firstRow="1" bandRow="1">
                <a:tableStyleId>{21E4AEA4-8DFA-4A89-87EB-49C32662AFE0}</a:tableStyleId>
              </a:tblPr>
              <a:tblGrid>
                <a:gridCol w="3474308">
                  <a:extLst>
                    <a:ext uri="{9D8B030D-6E8A-4147-A177-3AD203B41FA5}">
                      <a16:colId xmlns:a16="http://schemas.microsoft.com/office/drawing/2014/main" val="1572140262"/>
                    </a:ext>
                  </a:extLst>
                </a:gridCol>
                <a:gridCol w="3474308">
                  <a:extLst>
                    <a:ext uri="{9D8B030D-6E8A-4147-A177-3AD203B41FA5}">
                      <a16:colId xmlns:a16="http://schemas.microsoft.com/office/drawing/2014/main" val="3029857189"/>
                    </a:ext>
                  </a:extLst>
                </a:gridCol>
                <a:gridCol w="3474308">
                  <a:extLst>
                    <a:ext uri="{9D8B030D-6E8A-4147-A177-3AD203B41FA5}">
                      <a16:colId xmlns:a16="http://schemas.microsoft.com/office/drawing/2014/main" val="466282382"/>
                    </a:ext>
                  </a:extLst>
                </a:gridCol>
              </a:tblGrid>
              <a:tr h="370840">
                <a:tc>
                  <a:txBody>
                    <a:bodyPr/>
                    <a:lstStyle/>
                    <a:p>
                      <a:pPr algn="ctr"/>
                      <a:r>
                        <a:rPr lang="en-US" dirty="0"/>
                        <a:t>Splash Screen</a:t>
                      </a:r>
                    </a:p>
                  </a:txBody>
                  <a:tcPr/>
                </a:tc>
                <a:tc>
                  <a:txBody>
                    <a:bodyPr/>
                    <a:lstStyle/>
                    <a:p>
                      <a:pPr algn="ctr"/>
                      <a:r>
                        <a:rPr lang="en-US" dirty="0"/>
                        <a:t>Sign up</a:t>
                      </a:r>
                    </a:p>
                  </a:txBody>
                  <a:tcPr/>
                </a:tc>
                <a:tc>
                  <a:txBody>
                    <a:bodyPr/>
                    <a:lstStyle/>
                    <a:p>
                      <a:pPr algn="ctr"/>
                      <a:r>
                        <a:rPr lang="en-US" dirty="0"/>
                        <a:t>Sign in/Login</a:t>
                      </a:r>
                    </a:p>
                  </a:txBody>
                  <a:tcPr/>
                </a:tc>
                <a:extLst>
                  <a:ext uri="{0D108BD9-81ED-4DB2-BD59-A6C34878D82A}">
                    <a16:rowId xmlns:a16="http://schemas.microsoft.com/office/drawing/2014/main" val="4044810752"/>
                  </a:ext>
                </a:extLst>
              </a:tr>
            </a:tbl>
          </a:graphicData>
        </a:graphic>
      </p:graphicFrame>
      <p:cxnSp>
        <p:nvCxnSpPr>
          <p:cNvPr id="17" name="Straight Arrow Connector 16">
            <a:extLst>
              <a:ext uri="{FF2B5EF4-FFF2-40B4-BE49-F238E27FC236}">
                <a16:creationId xmlns:a16="http://schemas.microsoft.com/office/drawing/2014/main" id="{8A26BE89-0FAB-730D-32D8-779F04C3B674}"/>
              </a:ext>
            </a:extLst>
          </p:cNvPr>
          <p:cNvCxnSpPr>
            <a:stCxn id="9" idx="3"/>
            <a:endCxn id="11" idx="1"/>
          </p:cNvCxnSpPr>
          <p:nvPr/>
        </p:nvCxnSpPr>
        <p:spPr>
          <a:xfrm>
            <a:off x="4250723" y="4403868"/>
            <a:ext cx="326425" cy="0"/>
          </a:xfrm>
          <a:prstGeom prst="straightConnector1">
            <a:avLst/>
          </a:prstGeom>
          <a:ln w="38100">
            <a:solidFill>
              <a:schemeClr val="accent1"/>
            </a:solidFill>
            <a:tailEnd type="triangle"/>
          </a:ln>
        </p:spPr>
        <p:style>
          <a:lnRef idx="1">
            <a:schemeClr val="accent2"/>
          </a:lnRef>
          <a:fillRef idx="0">
            <a:schemeClr val="accent2"/>
          </a:fillRef>
          <a:effectRef idx="0">
            <a:schemeClr val="accent2"/>
          </a:effectRef>
          <a:fontRef idx="minor">
            <a:schemeClr val="tx1"/>
          </a:fontRef>
        </p:style>
      </p:cxnSp>
      <p:cxnSp>
        <p:nvCxnSpPr>
          <p:cNvPr id="18" name="Straight Arrow Connector 17">
            <a:extLst>
              <a:ext uri="{FF2B5EF4-FFF2-40B4-BE49-F238E27FC236}">
                <a16:creationId xmlns:a16="http://schemas.microsoft.com/office/drawing/2014/main" id="{C91E31CD-55C0-F468-92D6-C706D16E6260}"/>
              </a:ext>
            </a:extLst>
          </p:cNvPr>
          <p:cNvCxnSpPr>
            <a:cxnSpLocks/>
            <a:stCxn id="11" idx="3"/>
            <a:endCxn id="13" idx="1"/>
          </p:cNvCxnSpPr>
          <p:nvPr/>
        </p:nvCxnSpPr>
        <p:spPr>
          <a:xfrm>
            <a:off x="7707527" y="4403868"/>
            <a:ext cx="393016" cy="0"/>
          </a:xfrm>
          <a:prstGeom prst="straightConnector1">
            <a:avLst/>
          </a:prstGeom>
          <a:ln w="38100">
            <a:solidFill>
              <a:schemeClr val="accent1"/>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6992301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44EFA9B-AACD-6BBD-EA93-652ED43711AE}"/>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96FD041A-EF3F-D6DA-34F8-FCC4095699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A9FE6C-69F4-0B42-0581-27CF07962220}"/>
              </a:ext>
            </a:extLst>
          </p:cNvPr>
          <p:cNvSpPr>
            <a:spLocks noGrp="1"/>
          </p:cNvSpPr>
          <p:nvPr>
            <p:ph type="title"/>
          </p:nvPr>
        </p:nvSpPr>
        <p:spPr>
          <a:xfrm>
            <a:off x="838200" y="365125"/>
            <a:ext cx="10515600" cy="1325563"/>
          </a:xfrm>
        </p:spPr>
        <p:txBody>
          <a:bodyPr>
            <a:normAutofit/>
          </a:bodyPr>
          <a:lstStyle/>
          <a:p>
            <a:pPr>
              <a:lnSpc>
                <a:spcPct val="100000"/>
              </a:lnSpc>
            </a:pPr>
            <a:r>
              <a:rPr lang="en-US" sz="4200" b="1" dirty="0">
                <a:latin typeface="Times New Roman" panose="02020603050405020304" pitchFamily="18" charset="0"/>
                <a:cs typeface="Times New Roman" panose="02020603050405020304" pitchFamily="18" charset="0"/>
              </a:rPr>
              <a:t>Implementation flowchart-02 (U/I part-02)</a:t>
            </a:r>
            <a:endParaRPr lang="ru-RU" sz="4200" b="1" dirty="0">
              <a:latin typeface="Times New Roman" panose="02020603050405020304" pitchFamily="18" charset="0"/>
              <a:cs typeface="Times New Roman" panose="02020603050405020304" pitchFamily="18" charset="0"/>
            </a:endParaRPr>
          </a:p>
        </p:txBody>
      </p:sp>
      <p:sp>
        <p:nvSpPr>
          <p:cNvPr id="26" name="sketch line">
            <a:extLst>
              <a:ext uri="{FF2B5EF4-FFF2-40B4-BE49-F238E27FC236}">
                <a16:creationId xmlns:a16="http://schemas.microsoft.com/office/drawing/2014/main" id="{1701178E-1175-B9D4-31CE-C06E7AB57C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4">
            <a:extLst>
              <a:ext uri="{FF2B5EF4-FFF2-40B4-BE49-F238E27FC236}">
                <a16:creationId xmlns:a16="http://schemas.microsoft.com/office/drawing/2014/main" id="{F229462D-12EA-9B74-247C-1251963F3027}"/>
              </a:ext>
            </a:extLst>
          </p:cNvPr>
          <p:cNvSpPr>
            <a:spLocks noGrp="1"/>
          </p:cNvSpPr>
          <p:nvPr>
            <p:ph idx="1"/>
          </p:nvPr>
        </p:nvSpPr>
        <p:spPr>
          <a:xfrm>
            <a:off x="838200" y="1929384"/>
            <a:ext cx="10515600" cy="4251960"/>
          </a:xfrm>
        </p:spPr>
        <p:txBody>
          <a:bodyPr>
            <a:normAutofit/>
          </a:bodyPr>
          <a:lstStyle/>
          <a:p>
            <a:pPr marL="457200" lvl="1" indent="0">
              <a:buNone/>
            </a:pPr>
            <a:endParaRPr lang="en-US" sz="2200">
              <a:latin typeface="Times New Roman" panose="02020603050405020304" pitchFamily="18" charset="0"/>
              <a:cs typeface="Times New Roman" panose="02020603050405020304" pitchFamily="18" charset="0"/>
            </a:endParaRPr>
          </a:p>
          <a:p>
            <a:pPr marL="0" indent="0">
              <a:buNone/>
            </a:pPr>
            <a:endParaRPr lang="en-US" sz="2200" dirty="0">
              <a:latin typeface="Times New Roman" panose="02020603050405020304" pitchFamily="18" charset="0"/>
              <a:cs typeface="Times New Roman" panose="02020603050405020304" pitchFamily="18" charset="0"/>
            </a:endParaRPr>
          </a:p>
        </p:txBody>
      </p:sp>
      <p:graphicFrame>
        <p:nvGraphicFramePr>
          <p:cNvPr id="15" name="Table 14">
            <a:extLst>
              <a:ext uri="{FF2B5EF4-FFF2-40B4-BE49-F238E27FC236}">
                <a16:creationId xmlns:a16="http://schemas.microsoft.com/office/drawing/2014/main" id="{F46B2451-839F-992B-1FF1-BE052EC0CEE5}"/>
              </a:ext>
            </a:extLst>
          </p:cNvPr>
          <p:cNvGraphicFramePr>
            <a:graphicFrameLocks noGrp="1"/>
          </p:cNvGraphicFramePr>
          <p:nvPr>
            <p:extLst>
              <p:ext uri="{D42A27DB-BD31-4B8C-83A1-F6EECF244321}">
                <p14:modId xmlns:p14="http://schemas.microsoft.com/office/powerpoint/2010/main" val="4034957264"/>
              </p:ext>
            </p:extLst>
          </p:nvPr>
        </p:nvGraphicFramePr>
        <p:xfrm>
          <a:off x="930875" y="2147294"/>
          <a:ext cx="10422924" cy="370840"/>
        </p:xfrm>
        <a:graphic>
          <a:graphicData uri="http://schemas.openxmlformats.org/drawingml/2006/table">
            <a:tbl>
              <a:tblPr firstRow="1" bandRow="1">
                <a:tableStyleId>{21E4AEA4-8DFA-4A89-87EB-49C32662AFE0}</a:tableStyleId>
              </a:tblPr>
              <a:tblGrid>
                <a:gridCol w="3474308">
                  <a:extLst>
                    <a:ext uri="{9D8B030D-6E8A-4147-A177-3AD203B41FA5}">
                      <a16:colId xmlns:a16="http://schemas.microsoft.com/office/drawing/2014/main" val="1572140262"/>
                    </a:ext>
                  </a:extLst>
                </a:gridCol>
                <a:gridCol w="3474308">
                  <a:extLst>
                    <a:ext uri="{9D8B030D-6E8A-4147-A177-3AD203B41FA5}">
                      <a16:colId xmlns:a16="http://schemas.microsoft.com/office/drawing/2014/main" val="3029857189"/>
                    </a:ext>
                  </a:extLst>
                </a:gridCol>
                <a:gridCol w="3474308">
                  <a:extLst>
                    <a:ext uri="{9D8B030D-6E8A-4147-A177-3AD203B41FA5}">
                      <a16:colId xmlns:a16="http://schemas.microsoft.com/office/drawing/2014/main" val="466282382"/>
                    </a:ext>
                  </a:extLst>
                </a:gridCol>
              </a:tblGrid>
              <a:tr h="370840">
                <a:tc>
                  <a:txBody>
                    <a:bodyPr/>
                    <a:lstStyle/>
                    <a:p>
                      <a:pPr algn="ctr"/>
                      <a:r>
                        <a:rPr lang="en-US" dirty="0"/>
                        <a:t>Topic selection activity</a:t>
                      </a:r>
                    </a:p>
                  </a:txBody>
                  <a:tcPr/>
                </a:tc>
                <a:tc>
                  <a:txBody>
                    <a:bodyPr/>
                    <a:lstStyle/>
                    <a:p>
                      <a:pPr algn="ctr"/>
                      <a:r>
                        <a:rPr lang="en-US" dirty="0"/>
                        <a:t>Activity Dashboard - 01</a:t>
                      </a:r>
                    </a:p>
                  </a:txBody>
                  <a:tcPr/>
                </a:tc>
                <a:tc>
                  <a:txBody>
                    <a:bodyPr/>
                    <a:lstStyle/>
                    <a:p>
                      <a:pPr algn="ctr"/>
                      <a:r>
                        <a:rPr lang="en-US" dirty="0"/>
                        <a:t>Activity Dashboard - 02</a:t>
                      </a:r>
                    </a:p>
                  </a:txBody>
                  <a:tcPr/>
                </a:tc>
                <a:extLst>
                  <a:ext uri="{0D108BD9-81ED-4DB2-BD59-A6C34878D82A}">
                    <a16:rowId xmlns:a16="http://schemas.microsoft.com/office/drawing/2014/main" val="4044810752"/>
                  </a:ext>
                </a:extLst>
              </a:tr>
            </a:tbl>
          </a:graphicData>
        </a:graphic>
      </p:graphicFrame>
      <p:cxnSp>
        <p:nvCxnSpPr>
          <p:cNvPr id="17" name="Straight Arrow Connector 16">
            <a:extLst>
              <a:ext uri="{FF2B5EF4-FFF2-40B4-BE49-F238E27FC236}">
                <a16:creationId xmlns:a16="http://schemas.microsoft.com/office/drawing/2014/main" id="{6DCF2B69-0675-9FA8-9F53-BA79FED60538}"/>
              </a:ext>
            </a:extLst>
          </p:cNvPr>
          <p:cNvCxnSpPr>
            <a:cxnSpLocks/>
          </p:cNvCxnSpPr>
          <p:nvPr/>
        </p:nvCxnSpPr>
        <p:spPr>
          <a:xfrm>
            <a:off x="4250723" y="4403868"/>
            <a:ext cx="326425" cy="0"/>
          </a:xfrm>
          <a:prstGeom prst="straightConnector1">
            <a:avLst/>
          </a:prstGeom>
          <a:ln w="38100">
            <a:solidFill>
              <a:schemeClr val="accent1"/>
            </a:solidFill>
            <a:tailEnd type="triangle"/>
          </a:ln>
        </p:spPr>
        <p:style>
          <a:lnRef idx="1">
            <a:schemeClr val="accent2"/>
          </a:lnRef>
          <a:fillRef idx="0">
            <a:schemeClr val="accent2"/>
          </a:fillRef>
          <a:effectRef idx="0">
            <a:schemeClr val="accent2"/>
          </a:effectRef>
          <a:fontRef idx="minor">
            <a:schemeClr val="tx1"/>
          </a:fontRef>
        </p:style>
      </p:cxnSp>
      <p:cxnSp>
        <p:nvCxnSpPr>
          <p:cNvPr id="18" name="Straight Arrow Connector 17">
            <a:extLst>
              <a:ext uri="{FF2B5EF4-FFF2-40B4-BE49-F238E27FC236}">
                <a16:creationId xmlns:a16="http://schemas.microsoft.com/office/drawing/2014/main" id="{D5411A76-780C-95BC-0ECD-34115367E098}"/>
              </a:ext>
            </a:extLst>
          </p:cNvPr>
          <p:cNvCxnSpPr>
            <a:cxnSpLocks/>
          </p:cNvCxnSpPr>
          <p:nvPr/>
        </p:nvCxnSpPr>
        <p:spPr>
          <a:xfrm>
            <a:off x="7707527" y="4403868"/>
            <a:ext cx="393016" cy="0"/>
          </a:xfrm>
          <a:prstGeom prst="straightConnector1">
            <a:avLst/>
          </a:prstGeom>
          <a:ln w="38100">
            <a:solidFill>
              <a:schemeClr val="accent1"/>
            </a:solidFill>
            <a:tailEnd type="triangle"/>
          </a:ln>
        </p:spPr>
        <p:style>
          <a:lnRef idx="1">
            <a:schemeClr val="accent2"/>
          </a:lnRef>
          <a:fillRef idx="0">
            <a:schemeClr val="accent2"/>
          </a:fillRef>
          <a:effectRef idx="0">
            <a:schemeClr val="accent2"/>
          </a:effectRef>
          <a:fontRef idx="minor">
            <a:schemeClr val="tx1"/>
          </a:fontRef>
        </p:style>
      </p:cxnSp>
      <p:pic>
        <p:nvPicPr>
          <p:cNvPr id="4" name="Picture 3">
            <a:extLst>
              <a:ext uri="{FF2B5EF4-FFF2-40B4-BE49-F238E27FC236}">
                <a16:creationId xmlns:a16="http://schemas.microsoft.com/office/drawing/2014/main" id="{479D1AA3-FACB-0123-EB3D-CEC2249C9EB6}"/>
              </a:ext>
            </a:extLst>
          </p:cNvPr>
          <p:cNvPicPr>
            <a:picLocks noChangeAspect="1"/>
          </p:cNvPicPr>
          <p:nvPr/>
        </p:nvPicPr>
        <p:blipFill>
          <a:blip r:embed="rId2"/>
          <a:stretch>
            <a:fillRect/>
          </a:stretch>
        </p:blipFill>
        <p:spPr>
          <a:xfrm>
            <a:off x="930874" y="2518134"/>
            <a:ext cx="3319848" cy="1946771"/>
          </a:xfrm>
          <a:prstGeom prst="rect">
            <a:avLst/>
          </a:prstGeom>
        </p:spPr>
      </p:pic>
      <p:pic>
        <p:nvPicPr>
          <p:cNvPr id="7" name="Picture 6">
            <a:extLst>
              <a:ext uri="{FF2B5EF4-FFF2-40B4-BE49-F238E27FC236}">
                <a16:creationId xmlns:a16="http://schemas.microsoft.com/office/drawing/2014/main" id="{43C1AC97-8FB3-A8E3-B072-540EBACE93D8}"/>
              </a:ext>
            </a:extLst>
          </p:cNvPr>
          <p:cNvPicPr>
            <a:picLocks noChangeAspect="1"/>
          </p:cNvPicPr>
          <p:nvPr/>
        </p:nvPicPr>
        <p:blipFill>
          <a:blip r:embed="rId3"/>
          <a:stretch>
            <a:fillRect/>
          </a:stretch>
        </p:blipFill>
        <p:spPr>
          <a:xfrm>
            <a:off x="930874" y="4538444"/>
            <a:ext cx="3319847" cy="1751158"/>
          </a:xfrm>
          <a:prstGeom prst="rect">
            <a:avLst/>
          </a:prstGeom>
        </p:spPr>
      </p:pic>
      <p:pic>
        <p:nvPicPr>
          <p:cNvPr id="14" name="Picture 13">
            <a:extLst>
              <a:ext uri="{FF2B5EF4-FFF2-40B4-BE49-F238E27FC236}">
                <a16:creationId xmlns:a16="http://schemas.microsoft.com/office/drawing/2014/main" id="{84DB17F6-D2C3-D6D0-A062-D5D8059CE0FF}"/>
              </a:ext>
            </a:extLst>
          </p:cNvPr>
          <p:cNvPicPr>
            <a:picLocks noChangeAspect="1"/>
          </p:cNvPicPr>
          <p:nvPr/>
        </p:nvPicPr>
        <p:blipFill>
          <a:blip r:embed="rId4"/>
          <a:stretch>
            <a:fillRect/>
          </a:stretch>
        </p:blipFill>
        <p:spPr>
          <a:xfrm>
            <a:off x="4561893" y="2518134"/>
            <a:ext cx="3145633" cy="1946765"/>
          </a:xfrm>
          <a:prstGeom prst="rect">
            <a:avLst/>
          </a:prstGeom>
        </p:spPr>
      </p:pic>
      <p:pic>
        <p:nvPicPr>
          <p:cNvPr id="19" name="Picture 18">
            <a:extLst>
              <a:ext uri="{FF2B5EF4-FFF2-40B4-BE49-F238E27FC236}">
                <a16:creationId xmlns:a16="http://schemas.microsoft.com/office/drawing/2014/main" id="{C49C8654-1BAE-EF3F-29E2-A6A25052DC4C}"/>
              </a:ext>
            </a:extLst>
          </p:cNvPr>
          <p:cNvPicPr>
            <a:picLocks noChangeAspect="1"/>
          </p:cNvPicPr>
          <p:nvPr/>
        </p:nvPicPr>
        <p:blipFill>
          <a:blip r:embed="rId5"/>
          <a:stretch>
            <a:fillRect/>
          </a:stretch>
        </p:blipFill>
        <p:spPr>
          <a:xfrm>
            <a:off x="4561894" y="4538445"/>
            <a:ext cx="3145632" cy="1751158"/>
          </a:xfrm>
          <a:prstGeom prst="rect">
            <a:avLst/>
          </a:prstGeom>
        </p:spPr>
      </p:pic>
      <p:pic>
        <p:nvPicPr>
          <p:cNvPr id="21" name="Picture 20">
            <a:extLst>
              <a:ext uri="{FF2B5EF4-FFF2-40B4-BE49-F238E27FC236}">
                <a16:creationId xmlns:a16="http://schemas.microsoft.com/office/drawing/2014/main" id="{BF49F32A-5647-1D43-F29F-F595B4499EFA}"/>
              </a:ext>
            </a:extLst>
          </p:cNvPr>
          <p:cNvPicPr>
            <a:picLocks noChangeAspect="1"/>
          </p:cNvPicPr>
          <p:nvPr/>
        </p:nvPicPr>
        <p:blipFill>
          <a:blip r:embed="rId6"/>
          <a:stretch>
            <a:fillRect/>
          </a:stretch>
        </p:blipFill>
        <p:spPr>
          <a:xfrm>
            <a:off x="8100543" y="2518135"/>
            <a:ext cx="3248371" cy="1946764"/>
          </a:xfrm>
          <a:prstGeom prst="rect">
            <a:avLst/>
          </a:prstGeom>
        </p:spPr>
      </p:pic>
      <p:pic>
        <p:nvPicPr>
          <p:cNvPr id="23" name="Picture 22">
            <a:extLst>
              <a:ext uri="{FF2B5EF4-FFF2-40B4-BE49-F238E27FC236}">
                <a16:creationId xmlns:a16="http://schemas.microsoft.com/office/drawing/2014/main" id="{FC991C15-0E30-8C6A-3C44-2B9A3CF0F532}"/>
              </a:ext>
            </a:extLst>
          </p:cNvPr>
          <p:cNvPicPr>
            <a:picLocks noChangeAspect="1"/>
          </p:cNvPicPr>
          <p:nvPr/>
        </p:nvPicPr>
        <p:blipFill>
          <a:blip r:embed="rId7"/>
          <a:stretch>
            <a:fillRect/>
          </a:stretch>
        </p:blipFill>
        <p:spPr>
          <a:xfrm>
            <a:off x="8100543" y="4509128"/>
            <a:ext cx="3248371" cy="1751159"/>
          </a:xfrm>
          <a:prstGeom prst="rect">
            <a:avLst/>
          </a:prstGeom>
        </p:spPr>
      </p:pic>
    </p:spTree>
    <p:extLst>
      <p:ext uri="{BB962C8B-B14F-4D97-AF65-F5344CB8AC3E}">
        <p14:creationId xmlns:p14="http://schemas.microsoft.com/office/powerpoint/2010/main" val="39263876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7EE7E4B-4A02-56B4-7146-CADA05E7C473}"/>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91579B21-3961-8659-56B9-44F9AA9282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AE49C9-58BD-C3C6-9588-DE20C3E7B9F3}"/>
              </a:ext>
            </a:extLst>
          </p:cNvPr>
          <p:cNvSpPr>
            <a:spLocks noGrp="1"/>
          </p:cNvSpPr>
          <p:nvPr>
            <p:ph type="title"/>
          </p:nvPr>
        </p:nvSpPr>
        <p:spPr>
          <a:xfrm>
            <a:off x="838200" y="365125"/>
            <a:ext cx="10515600" cy="1325563"/>
          </a:xfrm>
        </p:spPr>
        <p:txBody>
          <a:bodyPr>
            <a:normAutofit/>
          </a:bodyPr>
          <a:lstStyle/>
          <a:p>
            <a:pPr>
              <a:lnSpc>
                <a:spcPct val="100000"/>
              </a:lnSpc>
            </a:pPr>
            <a:r>
              <a:rPr lang="en-US" sz="4200" b="1" dirty="0">
                <a:latin typeface="Times New Roman" panose="02020603050405020304" pitchFamily="18" charset="0"/>
                <a:cs typeface="Times New Roman" panose="02020603050405020304" pitchFamily="18" charset="0"/>
              </a:rPr>
              <a:t>Implementation flowchart-02 (U/I part-03)</a:t>
            </a:r>
            <a:endParaRPr lang="ru-RU" sz="4200" b="1" dirty="0">
              <a:latin typeface="Times New Roman" panose="02020603050405020304" pitchFamily="18" charset="0"/>
              <a:cs typeface="Times New Roman" panose="02020603050405020304" pitchFamily="18" charset="0"/>
            </a:endParaRPr>
          </a:p>
        </p:txBody>
      </p:sp>
      <p:sp>
        <p:nvSpPr>
          <p:cNvPr id="26" name="sketch line">
            <a:extLst>
              <a:ext uri="{FF2B5EF4-FFF2-40B4-BE49-F238E27FC236}">
                <a16:creationId xmlns:a16="http://schemas.microsoft.com/office/drawing/2014/main" id="{250665D7-5228-3305-A42A-3800F0CC9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4">
            <a:extLst>
              <a:ext uri="{FF2B5EF4-FFF2-40B4-BE49-F238E27FC236}">
                <a16:creationId xmlns:a16="http://schemas.microsoft.com/office/drawing/2014/main" id="{4A7A1A04-A208-351C-8738-780598B92D9A}"/>
              </a:ext>
            </a:extLst>
          </p:cNvPr>
          <p:cNvSpPr>
            <a:spLocks noGrp="1"/>
          </p:cNvSpPr>
          <p:nvPr>
            <p:ph idx="1"/>
          </p:nvPr>
        </p:nvSpPr>
        <p:spPr>
          <a:xfrm>
            <a:off x="838200" y="1929384"/>
            <a:ext cx="10515600" cy="4251960"/>
          </a:xfrm>
        </p:spPr>
        <p:txBody>
          <a:bodyPr>
            <a:normAutofit/>
          </a:bodyPr>
          <a:lstStyle/>
          <a:p>
            <a:pPr marL="457200" lvl="1" indent="0">
              <a:buNone/>
            </a:pPr>
            <a:endParaRPr lang="en-US" sz="2200">
              <a:latin typeface="Times New Roman" panose="02020603050405020304" pitchFamily="18" charset="0"/>
              <a:cs typeface="Times New Roman" panose="02020603050405020304" pitchFamily="18" charset="0"/>
            </a:endParaRPr>
          </a:p>
          <a:p>
            <a:pPr marL="0" indent="0">
              <a:buNone/>
            </a:pPr>
            <a:endParaRPr lang="en-US" sz="2200" dirty="0">
              <a:latin typeface="Times New Roman" panose="02020603050405020304" pitchFamily="18" charset="0"/>
              <a:cs typeface="Times New Roman" panose="02020603050405020304" pitchFamily="18" charset="0"/>
            </a:endParaRPr>
          </a:p>
        </p:txBody>
      </p:sp>
      <p:graphicFrame>
        <p:nvGraphicFramePr>
          <p:cNvPr id="15" name="Table 14">
            <a:extLst>
              <a:ext uri="{FF2B5EF4-FFF2-40B4-BE49-F238E27FC236}">
                <a16:creationId xmlns:a16="http://schemas.microsoft.com/office/drawing/2014/main" id="{BF351599-630B-6B6D-DAC3-00B38D355443}"/>
              </a:ext>
            </a:extLst>
          </p:cNvPr>
          <p:cNvGraphicFramePr>
            <a:graphicFrameLocks noGrp="1"/>
          </p:cNvGraphicFramePr>
          <p:nvPr>
            <p:extLst>
              <p:ext uri="{D42A27DB-BD31-4B8C-83A1-F6EECF244321}">
                <p14:modId xmlns:p14="http://schemas.microsoft.com/office/powerpoint/2010/main" val="3415829170"/>
              </p:ext>
            </p:extLst>
          </p:nvPr>
        </p:nvGraphicFramePr>
        <p:xfrm>
          <a:off x="930875" y="2147294"/>
          <a:ext cx="10422924" cy="370840"/>
        </p:xfrm>
        <a:graphic>
          <a:graphicData uri="http://schemas.openxmlformats.org/drawingml/2006/table">
            <a:tbl>
              <a:tblPr firstRow="1" bandRow="1">
                <a:tableStyleId>{21E4AEA4-8DFA-4A89-87EB-49C32662AFE0}</a:tableStyleId>
              </a:tblPr>
              <a:tblGrid>
                <a:gridCol w="3474308">
                  <a:extLst>
                    <a:ext uri="{9D8B030D-6E8A-4147-A177-3AD203B41FA5}">
                      <a16:colId xmlns:a16="http://schemas.microsoft.com/office/drawing/2014/main" val="1572140262"/>
                    </a:ext>
                  </a:extLst>
                </a:gridCol>
                <a:gridCol w="3474308">
                  <a:extLst>
                    <a:ext uri="{9D8B030D-6E8A-4147-A177-3AD203B41FA5}">
                      <a16:colId xmlns:a16="http://schemas.microsoft.com/office/drawing/2014/main" val="3029857189"/>
                    </a:ext>
                  </a:extLst>
                </a:gridCol>
                <a:gridCol w="3474308">
                  <a:extLst>
                    <a:ext uri="{9D8B030D-6E8A-4147-A177-3AD203B41FA5}">
                      <a16:colId xmlns:a16="http://schemas.microsoft.com/office/drawing/2014/main" val="466282382"/>
                    </a:ext>
                  </a:extLst>
                </a:gridCol>
              </a:tblGrid>
              <a:tr h="370840">
                <a:tc>
                  <a:txBody>
                    <a:bodyPr/>
                    <a:lstStyle/>
                    <a:p>
                      <a:pPr algn="ctr"/>
                      <a:r>
                        <a:rPr lang="en-US" dirty="0"/>
                        <a:t>Detailed Post Activity - 01</a:t>
                      </a:r>
                    </a:p>
                  </a:txBody>
                  <a:tcPr/>
                </a:tc>
                <a:tc>
                  <a:txBody>
                    <a:bodyPr/>
                    <a:lstStyle/>
                    <a:p>
                      <a:pPr algn="ctr"/>
                      <a:r>
                        <a:rPr lang="en-US" dirty="0"/>
                        <a:t>Detailed Post Activity - 02</a:t>
                      </a:r>
                    </a:p>
                  </a:txBody>
                  <a:tcPr/>
                </a:tc>
                <a:tc>
                  <a:txBody>
                    <a:bodyPr/>
                    <a:lstStyle/>
                    <a:p>
                      <a:pPr algn="ctr"/>
                      <a:r>
                        <a:rPr lang="en-US" dirty="0"/>
                        <a:t>Logout (i.e., from any Page)</a:t>
                      </a:r>
                    </a:p>
                  </a:txBody>
                  <a:tcPr/>
                </a:tc>
                <a:extLst>
                  <a:ext uri="{0D108BD9-81ED-4DB2-BD59-A6C34878D82A}">
                    <a16:rowId xmlns:a16="http://schemas.microsoft.com/office/drawing/2014/main" val="4044810752"/>
                  </a:ext>
                </a:extLst>
              </a:tr>
            </a:tbl>
          </a:graphicData>
        </a:graphic>
      </p:graphicFrame>
      <p:cxnSp>
        <p:nvCxnSpPr>
          <p:cNvPr id="17" name="Straight Arrow Connector 16">
            <a:extLst>
              <a:ext uri="{FF2B5EF4-FFF2-40B4-BE49-F238E27FC236}">
                <a16:creationId xmlns:a16="http://schemas.microsoft.com/office/drawing/2014/main" id="{9B678620-AEA6-0331-057F-B6DF537F42A9}"/>
              </a:ext>
            </a:extLst>
          </p:cNvPr>
          <p:cNvCxnSpPr>
            <a:cxnSpLocks/>
            <a:stCxn id="6" idx="3"/>
          </p:cNvCxnSpPr>
          <p:nvPr/>
        </p:nvCxnSpPr>
        <p:spPr>
          <a:xfrm>
            <a:off x="4245836" y="4403865"/>
            <a:ext cx="331312" cy="3"/>
          </a:xfrm>
          <a:prstGeom prst="straightConnector1">
            <a:avLst/>
          </a:prstGeom>
          <a:ln w="38100">
            <a:solidFill>
              <a:schemeClr val="accent1"/>
            </a:solidFill>
            <a:tailEnd type="triangle"/>
          </a:ln>
        </p:spPr>
        <p:style>
          <a:lnRef idx="1">
            <a:schemeClr val="accent2"/>
          </a:lnRef>
          <a:fillRef idx="0">
            <a:schemeClr val="accent2"/>
          </a:fillRef>
          <a:effectRef idx="0">
            <a:schemeClr val="accent2"/>
          </a:effectRef>
          <a:fontRef idx="minor">
            <a:schemeClr val="tx1"/>
          </a:fontRef>
        </p:style>
      </p:cxnSp>
      <p:cxnSp>
        <p:nvCxnSpPr>
          <p:cNvPr id="18" name="Straight Arrow Connector 17">
            <a:extLst>
              <a:ext uri="{FF2B5EF4-FFF2-40B4-BE49-F238E27FC236}">
                <a16:creationId xmlns:a16="http://schemas.microsoft.com/office/drawing/2014/main" id="{55BB5CEF-A257-A6B0-BB1E-DF07E76E4C7B}"/>
              </a:ext>
            </a:extLst>
          </p:cNvPr>
          <p:cNvCxnSpPr>
            <a:cxnSpLocks/>
          </p:cNvCxnSpPr>
          <p:nvPr/>
        </p:nvCxnSpPr>
        <p:spPr>
          <a:xfrm>
            <a:off x="7707527" y="4403868"/>
            <a:ext cx="393016" cy="0"/>
          </a:xfrm>
          <a:prstGeom prst="straightConnector1">
            <a:avLst/>
          </a:prstGeom>
          <a:ln w="38100">
            <a:solidFill>
              <a:schemeClr val="accent1"/>
            </a:solidFill>
            <a:tailEnd type="triangle"/>
          </a:ln>
        </p:spPr>
        <p:style>
          <a:lnRef idx="1">
            <a:schemeClr val="accent2"/>
          </a:lnRef>
          <a:fillRef idx="0">
            <a:schemeClr val="accent2"/>
          </a:fillRef>
          <a:effectRef idx="0">
            <a:schemeClr val="accent2"/>
          </a:effectRef>
          <a:fontRef idx="minor">
            <a:schemeClr val="tx1"/>
          </a:fontRef>
        </p:style>
      </p:cxnSp>
      <p:pic>
        <p:nvPicPr>
          <p:cNvPr id="6" name="Picture 5">
            <a:extLst>
              <a:ext uri="{FF2B5EF4-FFF2-40B4-BE49-F238E27FC236}">
                <a16:creationId xmlns:a16="http://schemas.microsoft.com/office/drawing/2014/main" id="{A29BAC35-A21C-24F0-FE88-10E3F1654A9E}"/>
              </a:ext>
            </a:extLst>
          </p:cNvPr>
          <p:cNvPicPr>
            <a:picLocks noChangeAspect="1"/>
          </p:cNvPicPr>
          <p:nvPr/>
        </p:nvPicPr>
        <p:blipFill>
          <a:blip r:embed="rId2"/>
          <a:stretch>
            <a:fillRect/>
          </a:stretch>
        </p:blipFill>
        <p:spPr>
          <a:xfrm>
            <a:off x="930873" y="2518133"/>
            <a:ext cx="3314963" cy="3771463"/>
          </a:xfrm>
          <a:prstGeom prst="rect">
            <a:avLst/>
          </a:prstGeom>
        </p:spPr>
      </p:pic>
      <p:pic>
        <p:nvPicPr>
          <p:cNvPr id="9" name="Picture 8">
            <a:extLst>
              <a:ext uri="{FF2B5EF4-FFF2-40B4-BE49-F238E27FC236}">
                <a16:creationId xmlns:a16="http://schemas.microsoft.com/office/drawing/2014/main" id="{A36949EE-0879-BD1F-9535-03AA44E9ABF9}"/>
              </a:ext>
            </a:extLst>
          </p:cNvPr>
          <p:cNvPicPr>
            <a:picLocks noChangeAspect="1"/>
          </p:cNvPicPr>
          <p:nvPr/>
        </p:nvPicPr>
        <p:blipFill>
          <a:blip r:embed="rId3"/>
          <a:stretch>
            <a:fillRect/>
          </a:stretch>
        </p:blipFill>
        <p:spPr>
          <a:xfrm>
            <a:off x="4577148" y="2518132"/>
            <a:ext cx="3125493" cy="3771451"/>
          </a:xfrm>
          <a:prstGeom prst="rect">
            <a:avLst/>
          </a:prstGeom>
        </p:spPr>
      </p:pic>
      <p:pic>
        <p:nvPicPr>
          <p:cNvPr id="12" name="Picture 11">
            <a:extLst>
              <a:ext uri="{FF2B5EF4-FFF2-40B4-BE49-F238E27FC236}">
                <a16:creationId xmlns:a16="http://schemas.microsoft.com/office/drawing/2014/main" id="{F639325A-B631-5D4C-1898-3D904C38E566}"/>
              </a:ext>
            </a:extLst>
          </p:cNvPr>
          <p:cNvPicPr>
            <a:picLocks noChangeAspect="1"/>
          </p:cNvPicPr>
          <p:nvPr/>
        </p:nvPicPr>
        <p:blipFill>
          <a:blip r:embed="rId4"/>
          <a:stretch>
            <a:fillRect/>
          </a:stretch>
        </p:blipFill>
        <p:spPr>
          <a:xfrm>
            <a:off x="8100543" y="2518061"/>
            <a:ext cx="3258142" cy="3771463"/>
          </a:xfrm>
          <a:prstGeom prst="rect">
            <a:avLst/>
          </a:prstGeom>
        </p:spPr>
      </p:pic>
    </p:spTree>
    <p:extLst>
      <p:ext uri="{BB962C8B-B14F-4D97-AF65-F5344CB8AC3E}">
        <p14:creationId xmlns:p14="http://schemas.microsoft.com/office/powerpoint/2010/main" val="20941883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4DB90-8E4B-561F-0F1F-CBC1C637825A}"/>
              </a:ext>
            </a:extLst>
          </p:cNvPr>
          <p:cNvSpPr>
            <a:spLocks noGrp="1"/>
          </p:cNvSpPr>
          <p:nvPr>
            <p:ph type="title"/>
          </p:nvPr>
        </p:nvSpPr>
        <p:spPr>
          <a:xfrm>
            <a:off x="838200" y="187795"/>
            <a:ext cx="5191664" cy="444346"/>
          </a:xfrm>
        </p:spPr>
        <p:txBody>
          <a:bodyPr>
            <a:noAutofit/>
          </a:bodyPr>
          <a:lstStyle/>
          <a:p>
            <a:r>
              <a:rPr lang="en-US" sz="3200" b="1" dirty="0">
                <a:latin typeface="Times New Roman" panose="02020603050405020304" pitchFamily="18" charset="0"/>
                <a:cs typeface="Times New Roman" panose="02020603050405020304" pitchFamily="18" charset="0"/>
              </a:rPr>
              <a:t>Finalized App Screenshots</a:t>
            </a:r>
          </a:p>
        </p:txBody>
      </p:sp>
      <p:pic>
        <p:nvPicPr>
          <p:cNvPr id="5" name="Content Placeholder 4">
            <a:extLst>
              <a:ext uri="{FF2B5EF4-FFF2-40B4-BE49-F238E27FC236}">
                <a16:creationId xmlns:a16="http://schemas.microsoft.com/office/drawing/2014/main" id="{0272774A-10EC-7DFB-AB23-613119C6797B}"/>
              </a:ext>
            </a:extLst>
          </p:cNvPr>
          <p:cNvPicPr>
            <a:picLocks noGrp="1" noChangeAspect="1"/>
          </p:cNvPicPr>
          <p:nvPr>
            <p:ph idx="1"/>
          </p:nvPr>
        </p:nvPicPr>
        <p:blipFill>
          <a:blip r:embed="rId2"/>
          <a:stretch>
            <a:fillRect/>
          </a:stretch>
        </p:blipFill>
        <p:spPr>
          <a:xfrm>
            <a:off x="838200" y="1058863"/>
            <a:ext cx="1322292" cy="2096713"/>
          </a:xfrm>
          <a:prstGeom prst="rect">
            <a:avLst/>
          </a:prstGeom>
        </p:spPr>
      </p:pic>
      <p:pic>
        <p:nvPicPr>
          <p:cNvPr id="7" name="Picture 6">
            <a:extLst>
              <a:ext uri="{FF2B5EF4-FFF2-40B4-BE49-F238E27FC236}">
                <a16:creationId xmlns:a16="http://schemas.microsoft.com/office/drawing/2014/main" id="{B3B5C901-5A03-DED4-600C-9694DA188594}"/>
              </a:ext>
            </a:extLst>
          </p:cNvPr>
          <p:cNvPicPr>
            <a:picLocks noChangeAspect="1"/>
          </p:cNvPicPr>
          <p:nvPr/>
        </p:nvPicPr>
        <p:blipFill>
          <a:blip r:embed="rId3"/>
          <a:stretch>
            <a:fillRect/>
          </a:stretch>
        </p:blipFill>
        <p:spPr>
          <a:xfrm>
            <a:off x="4069975" y="1058862"/>
            <a:ext cx="1322293" cy="2096713"/>
          </a:xfrm>
          <a:prstGeom prst="rect">
            <a:avLst/>
          </a:prstGeom>
        </p:spPr>
      </p:pic>
      <p:pic>
        <p:nvPicPr>
          <p:cNvPr id="9" name="Picture 8">
            <a:extLst>
              <a:ext uri="{FF2B5EF4-FFF2-40B4-BE49-F238E27FC236}">
                <a16:creationId xmlns:a16="http://schemas.microsoft.com/office/drawing/2014/main" id="{7848B833-0546-ADCB-E3A1-D8E3974E78F4}"/>
              </a:ext>
            </a:extLst>
          </p:cNvPr>
          <p:cNvPicPr>
            <a:picLocks noChangeAspect="1"/>
          </p:cNvPicPr>
          <p:nvPr/>
        </p:nvPicPr>
        <p:blipFill>
          <a:blip r:embed="rId4"/>
          <a:stretch>
            <a:fillRect/>
          </a:stretch>
        </p:blipFill>
        <p:spPr>
          <a:xfrm>
            <a:off x="2454087" y="1058862"/>
            <a:ext cx="1322294" cy="2096713"/>
          </a:xfrm>
          <a:prstGeom prst="rect">
            <a:avLst/>
          </a:prstGeom>
        </p:spPr>
      </p:pic>
      <p:pic>
        <p:nvPicPr>
          <p:cNvPr id="11" name="Picture 10">
            <a:extLst>
              <a:ext uri="{FF2B5EF4-FFF2-40B4-BE49-F238E27FC236}">
                <a16:creationId xmlns:a16="http://schemas.microsoft.com/office/drawing/2014/main" id="{F58D6D8A-F2BB-9056-D60A-AD6AC4949CB4}"/>
              </a:ext>
            </a:extLst>
          </p:cNvPr>
          <p:cNvPicPr>
            <a:picLocks noChangeAspect="1"/>
          </p:cNvPicPr>
          <p:nvPr/>
        </p:nvPicPr>
        <p:blipFill>
          <a:blip r:embed="rId5"/>
          <a:stretch>
            <a:fillRect/>
          </a:stretch>
        </p:blipFill>
        <p:spPr>
          <a:xfrm>
            <a:off x="5685863" y="1058862"/>
            <a:ext cx="1322294" cy="2096713"/>
          </a:xfrm>
          <a:prstGeom prst="rect">
            <a:avLst/>
          </a:prstGeom>
        </p:spPr>
      </p:pic>
      <p:pic>
        <p:nvPicPr>
          <p:cNvPr id="14" name="Picture 13">
            <a:extLst>
              <a:ext uri="{FF2B5EF4-FFF2-40B4-BE49-F238E27FC236}">
                <a16:creationId xmlns:a16="http://schemas.microsoft.com/office/drawing/2014/main" id="{4287CD1D-C78C-76BD-6F50-4BD60C62C27A}"/>
              </a:ext>
            </a:extLst>
          </p:cNvPr>
          <p:cNvPicPr>
            <a:picLocks noChangeAspect="1"/>
          </p:cNvPicPr>
          <p:nvPr/>
        </p:nvPicPr>
        <p:blipFill>
          <a:blip r:embed="rId6"/>
          <a:stretch>
            <a:fillRect/>
          </a:stretch>
        </p:blipFill>
        <p:spPr>
          <a:xfrm>
            <a:off x="7301752" y="1058862"/>
            <a:ext cx="1322294" cy="2096713"/>
          </a:xfrm>
          <a:prstGeom prst="rect">
            <a:avLst/>
          </a:prstGeom>
        </p:spPr>
      </p:pic>
      <p:pic>
        <p:nvPicPr>
          <p:cNvPr id="16" name="Picture 15">
            <a:extLst>
              <a:ext uri="{FF2B5EF4-FFF2-40B4-BE49-F238E27FC236}">
                <a16:creationId xmlns:a16="http://schemas.microsoft.com/office/drawing/2014/main" id="{F20CC7A6-0493-D8CD-2C00-E299B92C2FF8}"/>
              </a:ext>
            </a:extLst>
          </p:cNvPr>
          <p:cNvPicPr>
            <a:picLocks noChangeAspect="1"/>
          </p:cNvPicPr>
          <p:nvPr/>
        </p:nvPicPr>
        <p:blipFill>
          <a:blip r:embed="rId7"/>
          <a:stretch>
            <a:fillRect/>
          </a:stretch>
        </p:blipFill>
        <p:spPr>
          <a:xfrm>
            <a:off x="8917641" y="1058862"/>
            <a:ext cx="1322294" cy="2096713"/>
          </a:xfrm>
          <a:prstGeom prst="rect">
            <a:avLst/>
          </a:prstGeom>
        </p:spPr>
      </p:pic>
      <p:pic>
        <p:nvPicPr>
          <p:cNvPr id="18" name="Picture 17">
            <a:extLst>
              <a:ext uri="{FF2B5EF4-FFF2-40B4-BE49-F238E27FC236}">
                <a16:creationId xmlns:a16="http://schemas.microsoft.com/office/drawing/2014/main" id="{3E103A23-F337-33F1-474A-8D841CE53C54}"/>
              </a:ext>
            </a:extLst>
          </p:cNvPr>
          <p:cNvPicPr>
            <a:picLocks noChangeAspect="1"/>
          </p:cNvPicPr>
          <p:nvPr/>
        </p:nvPicPr>
        <p:blipFill>
          <a:blip r:embed="rId8"/>
          <a:stretch>
            <a:fillRect/>
          </a:stretch>
        </p:blipFill>
        <p:spPr>
          <a:xfrm>
            <a:off x="838200" y="3635978"/>
            <a:ext cx="1322292" cy="2648281"/>
          </a:xfrm>
          <a:prstGeom prst="rect">
            <a:avLst/>
          </a:prstGeom>
        </p:spPr>
      </p:pic>
      <p:pic>
        <p:nvPicPr>
          <p:cNvPr id="20" name="Picture 19">
            <a:extLst>
              <a:ext uri="{FF2B5EF4-FFF2-40B4-BE49-F238E27FC236}">
                <a16:creationId xmlns:a16="http://schemas.microsoft.com/office/drawing/2014/main" id="{76626145-2BBE-0B91-4491-259AA6DE3EF9}"/>
              </a:ext>
            </a:extLst>
          </p:cNvPr>
          <p:cNvPicPr>
            <a:picLocks noChangeAspect="1"/>
          </p:cNvPicPr>
          <p:nvPr/>
        </p:nvPicPr>
        <p:blipFill>
          <a:blip r:embed="rId9"/>
          <a:stretch>
            <a:fillRect/>
          </a:stretch>
        </p:blipFill>
        <p:spPr>
          <a:xfrm>
            <a:off x="2454087" y="3635978"/>
            <a:ext cx="1322292" cy="2648281"/>
          </a:xfrm>
          <a:prstGeom prst="rect">
            <a:avLst/>
          </a:prstGeom>
        </p:spPr>
      </p:pic>
      <p:pic>
        <p:nvPicPr>
          <p:cNvPr id="22" name="Picture 21">
            <a:extLst>
              <a:ext uri="{FF2B5EF4-FFF2-40B4-BE49-F238E27FC236}">
                <a16:creationId xmlns:a16="http://schemas.microsoft.com/office/drawing/2014/main" id="{93248037-4AC5-1999-AA89-7BA775DDA6FE}"/>
              </a:ext>
            </a:extLst>
          </p:cNvPr>
          <p:cNvPicPr>
            <a:picLocks noChangeAspect="1"/>
          </p:cNvPicPr>
          <p:nvPr/>
        </p:nvPicPr>
        <p:blipFill>
          <a:blip r:embed="rId10"/>
          <a:stretch>
            <a:fillRect/>
          </a:stretch>
        </p:blipFill>
        <p:spPr>
          <a:xfrm>
            <a:off x="4069975" y="3761874"/>
            <a:ext cx="1322292" cy="2522385"/>
          </a:xfrm>
          <a:prstGeom prst="rect">
            <a:avLst/>
          </a:prstGeom>
        </p:spPr>
      </p:pic>
      <p:pic>
        <p:nvPicPr>
          <p:cNvPr id="24" name="Picture 23">
            <a:extLst>
              <a:ext uri="{FF2B5EF4-FFF2-40B4-BE49-F238E27FC236}">
                <a16:creationId xmlns:a16="http://schemas.microsoft.com/office/drawing/2014/main" id="{EB80599B-3083-9E3D-9920-AF7697650EEB}"/>
              </a:ext>
            </a:extLst>
          </p:cNvPr>
          <p:cNvPicPr>
            <a:picLocks noChangeAspect="1"/>
          </p:cNvPicPr>
          <p:nvPr/>
        </p:nvPicPr>
        <p:blipFill>
          <a:blip r:embed="rId11"/>
          <a:stretch>
            <a:fillRect/>
          </a:stretch>
        </p:blipFill>
        <p:spPr>
          <a:xfrm>
            <a:off x="5685863" y="3761874"/>
            <a:ext cx="1322292" cy="2522385"/>
          </a:xfrm>
          <a:prstGeom prst="rect">
            <a:avLst/>
          </a:prstGeom>
        </p:spPr>
      </p:pic>
      <p:pic>
        <p:nvPicPr>
          <p:cNvPr id="26" name="Picture 25">
            <a:extLst>
              <a:ext uri="{FF2B5EF4-FFF2-40B4-BE49-F238E27FC236}">
                <a16:creationId xmlns:a16="http://schemas.microsoft.com/office/drawing/2014/main" id="{C2C41BB4-7EDC-1BA1-FD95-E5194B396045}"/>
              </a:ext>
            </a:extLst>
          </p:cNvPr>
          <p:cNvPicPr>
            <a:picLocks noChangeAspect="1"/>
          </p:cNvPicPr>
          <p:nvPr/>
        </p:nvPicPr>
        <p:blipFill>
          <a:blip r:embed="rId12"/>
          <a:stretch>
            <a:fillRect/>
          </a:stretch>
        </p:blipFill>
        <p:spPr>
          <a:xfrm>
            <a:off x="7301750" y="3761874"/>
            <a:ext cx="1322293" cy="2522385"/>
          </a:xfrm>
          <a:prstGeom prst="rect">
            <a:avLst/>
          </a:prstGeom>
        </p:spPr>
      </p:pic>
      <p:pic>
        <p:nvPicPr>
          <p:cNvPr id="28" name="Picture 27">
            <a:extLst>
              <a:ext uri="{FF2B5EF4-FFF2-40B4-BE49-F238E27FC236}">
                <a16:creationId xmlns:a16="http://schemas.microsoft.com/office/drawing/2014/main" id="{BF4F088A-0810-FEA3-E421-D7A1EC000A17}"/>
              </a:ext>
            </a:extLst>
          </p:cNvPr>
          <p:cNvPicPr>
            <a:picLocks noChangeAspect="1"/>
          </p:cNvPicPr>
          <p:nvPr/>
        </p:nvPicPr>
        <p:blipFill>
          <a:blip r:embed="rId13"/>
          <a:stretch>
            <a:fillRect/>
          </a:stretch>
        </p:blipFill>
        <p:spPr>
          <a:xfrm>
            <a:off x="8917638" y="3761874"/>
            <a:ext cx="1322293" cy="2522385"/>
          </a:xfrm>
          <a:prstGeom prst="rect">
            <a:avLst/>
          </a:prstGeom>
        </p:spPr>
      </p:pic>
      <p:pic>
        <p:nvPicPr>
          <p:cNvPr id="30" name="Picture 29">
            <a:extLst>
              <a:ext uri="{FF2B5EF4-FFF2-40B4-BE49-F238E27FC236}">
                <a16:creationId xmlns:a16="http://schemas.microsoft.com/office/drawing/2014/main" id="{11AABB06-67FE-DE5D-7178-425202EF256D}"/>
              </a:ext>
            </a:extLst>
          </p:cNvPr>
          <p:cNvPicPr>
            <a:picLocks noChangeAspect="1"/>
          </p:cNvPicPr>
          <p:nvPr/>
        </p:nvPicPr>
        <p:blipFill>
          <a:blip r:embed="rId14"/>
          <a:stretch>
            <a:fillRect/>
          </a:stretch>
        </p:blipFill>
        <p:spPr>
          <a:xfrm>
            <a:off x="10629778" y="3761874"/>
            <a:ext cx="1322293" cy="2522385"/>
          </a:xfrm>
          <a:prstGeom prst="rect">
            <a:avLst/>
          </a:prstGeom>
        </p:spPr>
      </p:pic>
      <p:graphicFrame>
        <p:nvGraphicFramePr>
          <p:cNvPr id="31" name="Table 30">
            <a:extLst>
              <a:ext uri="{FF2B5EF4-FFF2-40B4-BE49-F238E27FC236}">
                <a16:creationId xmlns:a16="http://schemas.microsoft.com/office/drawing/2014/main" id="{2EFF801E-58DB-37C2-B487-DF652DC04C1E}"/>
              </a:ext>
            </a:extLst>
          </p:cNvPr>
          <p:cNvGraphicFramePr>
            <a:graphicFrameLocks noGrp="1"/>
          </p:cNvGraphicFramePr>
          <p:nvPr>
            <p:extLst>
              <p:ext uri="{D42A27DB-BD31-4B8C-83A1-F6EECF244321}">
                <p14:modId xmlns:p14="http://schemas.microsoft.com/office/powerpoint/2010/main" val="440533613"/>
              </p:ext>
            </p:extLst>
          </p:nvPr>
        </p:nvGraphicFramePr>
        <p:xfrm>
          <a:off x="838200" y="693102"/>
          <a:ext cx="9401731" cy="304800"/>
        </p:xfrm>
        <a:graphic>
          <a:graphicData uri="http://schemas.openxmlformats.org/drawingml/2006/table">
            <a:tbl>
              <a:tblPr firstRow="1" bandRow="1">
                <a:tableStyleId>{5C22544A-7EE6-4342-B048-85BDC9FD1C3A}</a:tableStyleId>
              </a:tblPr>
              <a:tblGrid>
                <a:gridCol w="1439175">
                  <a:extLst>
                    <a:ext uri="{9D8B030D-6E8A-4147-A177-3AD203B41FA5}">
                      <a16:colId xmlns:a16="http://schemas.microsoft.com/office/drawing/2014/main" val="2221234714"/>
                    </a:ext>
                  </a:extLst>
                </a:gridCol>
                <a:gridCol w="1613139">
                  <a:extLst>
                    <a:ext uri="{9D8B030D-6E8A-4147-A177-3AD203B41FA5}">
                      <a16:colId xmlns:a16="http://schemas.microsoft.com/office/drawing/2014/main" val="671004380"/>
                    </a:ext>
                  </a:extLst>
                </a:gridCol>
                <a:gridCol w="1656272">
                  <a:extLst>
                    <a:ext uri="{9D8B030D-6E8A-4147-A177-3AD203B41FA5}">
                      <a16:colId xmlns:a16="http://schemas.microsoft.com/office/drawing/2014/main" val="542455241"/>
                    </a:ext>
                  </a:extLst>
                </a:gridCol>
                <a:gridCol w="1630392">
                  <a:extLst>
                    <a:ext uri="{9D8B030D-6E8A-4147-A177-3AD203B41FA5}">
                      <a16:colId xmlns:a16="http://schemas.microsoft.com/office/drawing/2014/main" val="2168460256"/>
                    </a:ext>
                  </a:extLst>
                </a:gridCol>
                <a:gridCol w="1621765">
                  <a:extLst>
                    <a:ext uri="{9D8B030D-6E8A-4147-A177-3AD203B41FA5}">
                      <a16:colId xmlns:a16="http://schemas.microsoft.com/office/drawing/2014/main" val="3051529398"/>
                    </a:ext>
                  </a:extLst>
                </a:gridCol>
                <a:gridCol w="1440988">
                  <a:extLst>
                    <a:ext uri="{9D8B030D-6E8A-4147-A177-3AD203B41FA5}">
                      <a16:colId xmlns:a16="http://schemas.microsoft.com/office/drawing/2014/main" val="2901334280"/>
                    </a:ext>
                  </a:extLst>
                </a:gridCol>
              </a:tblGrid>
              <a:tr h="283342">
                <a:tc>
                  <a:txBody>
                    <a:bodyPr/>
                    <a:lstStyle/>
                    <a:p>
                      <a:pPr algn="ctr"/>
                      <a:r>
                        <a:rPr lang="en-US" sz="1400" dirty="0"/>
                        <a:t>Splash Screen</a:t>
                      </a:r>
                    </a:p>
                  </a:txBody>
                  <a:tcPr>
                    <a:solidFill>
                      <a:schemeClr val="accent2"/>
                    </a:solidFill>
                  </a:tcPr>
                </a:tc>
                <a:tc>
                  <a:txBody>
                    <a:bodyPr/>
                    <a:lstStyle/>
                    <a:p>
                      <a:pPr algn="ctr"/>
                      <a:r>
                        <a:rPr lang="en-US" sz="1400" dirty="0"/>
                        <a:t>Sign up</a:t>
                      </a:r>
                    </a:p>
                  </a:txBody>
                  <a:tcPr>
                    <a:solidFill>
                      <a:srgbClr val="7030A0"/>
                    </a:solidFill>
                  </a:tcPr>
                </a:tc>
                <a:tc>
                  <a:txBody>
                    <a:bodyPr/>
                    <a:lstStyle/>
                    <a:p>
                      <a:pPr algn="ctr"/>
                      <a:r>
                        <a:rPr lang="en-US" sz="1400" dirty="0"/>
                        <a:t>Log in</a:t>
                      </a:r>
                    </a:p>
                  </a:txBody>
                  <a:tcPr>
                    <a:solidFill>
                      <a:srgbClr val="7030A0"/>
                    </a:solidFill>
                  </a:tcPr>
                </a:tc>
                <a:tc>
                  <a:txBody>
                    <a:bodyPr/>
                    <a:lstStyle/>
                    <a:p>
                      <a:pPr algn="ctr"/>
                      <a:r>
                        <a:rPr lang="en-US" sz="1400" dirty="0"/>
                        <a:t>Select community</a:t>
                      </a:r>
                    </a:p>
                  </a:txBody>
                  <a:tcPr>
                    <a:solidFill>
                      <a:schemeClr val="accent3">
                        <a:lumMod val="50000"/>
                      </a:schemeClr>
                    </a:solidFill>
                  </a:tcPr>
                </a:tc>
                <a:tc>
                  <a:txBody>
                    <a:bodyPr/>
                    <a:lstStyle/>
                    <a:p>
                      <a:pPr algn="ctr"/>
                      <a:r>
                        <a:rPr lang="en-US" sz="1400" dirty="0"/>
                        <a:t>Find community</a:t>
                      </a:r>
                    </a:p>
                  </a:txBody>
                  <a:tcPr>
                    <a:solidFill>
                      <a:schemeClr val="accent3">
                        <a:lumMod val="50000"/>
                      </a:schemeClr>
                    </a:solidFill>
                  </a:tcPr>
                </a:tc>
                <a:tc>
                  <a:txBody>
                    <a:bodyPr/>
                    <a:lstStyle/>
                    <a:p>
                      <a:pPr algn="ctr"/>
                      <a:r>
                        <a:rPr lang="en-US" sz="1400" dirty="0"/>
                        <a:t>User’s profile</a:t>
                      </a:r>
                    </a:p>
                  </a:txBody>
                  <a:tcPr>
                    <a:solidFill>
                      <a:schemeClr val="accent3">
                        <a:lumMod val="50000"/>
                      </a:schemeClr>
                    </a:solidFill>
                  </a:tcPr>
                </a:tc>
                <a:extLst>
                  <a:ext uri="{0D108BD9-81ED-4DB2-BD59-A6C34878D82A}">
                    <a16:rowId xmlns:a16="http://schemas.microsoft.com/office/drawing/2014/main" val="270021772"/>
                  </a:ext>
                </a:extLst>
              </a:tr>
            </a:tbl>
          </a:graphicData>
        </a:graphic>
      </p:graphicFrame>
      <p:graphicFrame>
        <p:nvGraphicFramePr>
          <p:cNvPr id="32" name="Table 31">
            <a:extLst>
              <a:ext uri="{FF2B5EF4-FFF2-40B4-BE49-F238E27FC236}">
                <a16:creationId xmlns:a16="http://schemas.microsoft.com/office/drawing/2014/main" id="{44983468-99AC-EDEF-9A39-5B4AF4BB9963}"/>
              </a:ext>
            </a:extLst>
          </p:cNvPr>
          <p:cNvGraphicFramePr>
            <a:graphicFrameLocks noGrp="1"/>
          </p:cNvGraphicFramePr>
          <p:nvPr>
            <p:extLst>
              <p:ext uri="{D42A27DB-BD31-4B8C-83A1-F6EECF244321}">
                <p14:modId xmlns:p14="http://schemas.microsoft.com/office/powerpoint/2010/main" val="2222228038"/>
              </p:ext>
            </p:extLst>
          </p:nvPr>
        </p:nvGraphicFramePr>
        <p:xfrm>
          <a:off x="838200" y="3483577"/>
          <a:ext cx="11113871" cy="304800"/>
        </p:xfrm>
        <a:graphic>
          <a:graphicData uri="http://schemas.openxmlformats.org/drawingml/2006/table">
            <a:tbl>
              <a:tblPr firstRow="1" bandRow="1">
                <a:tableStyleId>{5C22544A-7EE6-4342-B048-85BDC9FD1C3A}</a:tableStyleId>
              </a:tblPr>
              <a:tblGrid>
                <a:gridCol w="1470486">
                  <a:extLst>
                    <a:ext uri="{9D8B030D-6E8A-4147-A177-3AD203B41FA5}">
                      <a16:colId xmlns:a16="http://schemas.microsoft.com/office/drawing/2014/main" val="2221234714"/>
                    </a:ext>
                  </a:extLst>
                </a:gridCol>
                <a:gridCol w="1648235">
                  <a:extLst>
                    <a:ext uri="{9D8B030D-6E8A-4147-A177-3AD203B41FA5}">
                      <a16:colId xmlns:a16="http://schemas.microsoft.com/office/drawing/2014/main" val="671004380"/>
                    </a:ext>
                  </a:extLst>
                </a:gridCol>
                <a:gridCol w="1615743">
                  <a:extLst>
                    <a:ext uri="{9D8B030D-6E8A-4147-A177-3AD203B41FA5}">
                      <a16:colId xmlns:a16="http://schemas.microsoft.com/office/drawing/2014/main" val="542455241"/>
                    </a:ext>
                  </a:extLst>
                </a:gridCol>
                <a:gridCol w="1595887">
                  <a:extLst>
                    <a:ext uri="{9D8B030D-6E8A-4147-A177-3AD203B41FA5}">
                      <a16:colId xmlns:a16="http://schemas.microsoft.com/office/drawing/2014/main" val="2168460256"/>
                    </a:ext>
                  </a:extLst>
                </a:gridCol>
                <a:gridCol w="1630392">
                  <a:extLst>
                    <a:ext uri="{9D8B030D-6E8A-4147-A177-3AD203B41FA5}">
                      <a16:colId xmlns:a16="http://schemas.microsoft.com/office/drawing/2014/main" val="3051529398"/>
                    </a:ext>
                  </a:extLst>
                </a:gridCol>
                <a:gridCol w="1630393">
                  <a:extLst>
                    <a:ext uri="{9D8B030D-6E8A-4147-A177-3AD203B41FA5}">
                      <a16:colId xmlns:a16="http://schemas.microsoft.com/office/drawing/2014/main" val="2901334280"/>
                    </a:ext>
                  </a:extLst>
                </a:gridCol>
                <a:gridCol w="1522735">
                  <a:extLst>
                    <a:ext uri="{9D8B030D-6E8A-4147-A177-3AD203B41FA5}">
                      <a16:colId xmlns:a16="http://schemas.microsoft.com/office/drawing/2014/main" val="2163615214"/>
                    </a:ext>
                  </a:extLst>
                </a:gridCol>
              </a:tblGrid>
              <a:tr h="283342">
                <a:tc>
                  <a:txBody>
                    <a:bodyPr/>
                    <a:lstStyle/>
                    <a:p>
                      <a:pPr algn="ctr"/>
                      <a:r>
                        <a:rPr lang="en-US" sz="1400" dirty="0"/>
                        <a:t>Main Dashboard</a:t>
                      </a:r>
                    </a:p>
                  </a:txBody>
                  <a:tcPr>
                    <a:solidFill>
                      <a:srgbClr val="00B050"/>
                    </a:solidFill>
                  </a:tcPr>
                </a:tc>
                <a:tc>
                  <a:txBody>
                    <a:bodyPr/>
                    <a:lstStyle/>
                    <a:p>
                      <a:pPr algn="ctr"/>
                      <a:r>
                        <a:rPr lang="en-US" sz="1400" dirty="0"/>
                        <a:t>Bookmarked posts</a:t>
                      </a:r>
                    </a:p>
                  </a:txBody>
                  <a:tcPr>
                    <a:solidFill>
                      <a:srgbClr val="00B050"/>
                    </a:solidFill>
                  </a:tcPr>
                </a:tc>
                <a:tc>
                  <a:txBody>
                    <a:bodyPr/>
                    <a:lstStyle/>
                    <a:p>
                      <a:pPr algn="ctr"/>
                      <a:r>
                        <a:rPr lang="en-US" sz="1400" dirty="0"/>
                        <a:t>Filter by date</a:t>
                      </a:r>
                    </a:p>
                  </a:txBody>
                  <a:tcPr>
                    <a:solidFill>
                      <a:srgbClr val="00B050"/>
                    </a:solidFill>
                  </a:tcPr>
                </a:tc>
                <a:tc>
                  <a:txBody>
                    <a:bodyPr/>
                    <a:lstStyle/>
                    <a:p>
                      <a:pPr algn="ctr"/>
                      <a:r>
                        <a:rPr lang="en-US" sz="1400" dirty="0"/>
                        <a:t>Search posts</a:t>
                      </a:r>
                    </a:p>
                  </a:txBody>
                  <a:tcPr>
                    <a:solidFill>
                      <a:srgbClr val="00B050"/>
                    </a:solidFill>
                  </a:tcPr>
                </a:tc>
                <a:tc>
                  <a:txBody>
                    <a:bodyPr/>
                    <a:lstStyle/>
                    <a:p>
                      <a:pPr algn="ctr"/>
                      <a:r>
                        <a:rPr lang="en-US" sz="1400" dirty="0"/>
                        <a:t>Detailed Post</a:t>
                      </a:r>
                    </a:p>
                  </a:txBody>
                  <a:tcPr>
                    <a:solidFill>
                      <a:srgbClr val="0070C0"/>
                    </a:solidFill>
                  </a:tcPr>
                </a:tc>
                <a:tc>
                  <a:txBody>
                    <a:bodyPr/>
                    <a:lstStyle/>
                    <a:p>
                      <a:pPr algn="ctr"/>
                      <a:r>
                        <a:rPr lang="en-US" sz="1400" dirty="0"/>
                        <a:t>Share the post</a:t>
                      </a:r>
                    </a:p>
                  </a:txBody>
                  <a:tcPr>
                    <a:solidFill>
                      <a:srgbClr val="0D460A"/>
                    </a:solidFill>
                  </a:tcPr>
                </a:tc>
                <a:tc>
                  <a:txBody>
                    <a:bodyPr/>
                    <a:lstStyle/>
                    <a:p>
                      <a:pPr algn="ctr"/>
                      <a:r>
                        <a:rPr lang="en-US" sz="1400" dirty="0"/>
                        <a:t>Shared post</a:t>
                      </a:r>
                    </a:p>
                  </a:txBody>
                  <a:tcPr>
                    <a:solidFill>
                      <a:srgbClr val="0D460A"/>
                    </a:solidFill>
                  </a:tcPr>
                </a:tc>
                <a:extLst>
                  <a:ext uri="{0D108BD9-81ED-4DB2-BD59-A6C34878D82A}">
                    <a16:rowId xmlns:a16="http://schemas.microsoft.com/office/drawing/2014/main" val="270021772"/>
                  </a:ext>
                </a:extLst>
              </a:tr>
            </a:tbl>
          </a:graphicData>
        </a:graphic>
      </p:graphicFrame>
      <p:pic>
        <p:nvPicPr>
          <p:cNvPr id="34" name="Picture 33">
            <a:extLst>
              <a:ext uri="{FF2B5EF4-FFF2-40B4-BE49-F238E27FC236}">
                <a16:creationId xmlns:a16="http://schemas.microsoft.com/office/drawing/2014/main" id="{58F26F84-CD41-3A72-8797-988E54AB7D09}"/>
              </a:ext>
            </a:extLst>
          </p:cNvPr>
          <p:cNvPicPr>
            <a:picLocks noChangeAspect="1"/>
          </p:cNvPicPr>
          <p:nvPr/>
        </p:nvPicPr>
        <p:blipFill>
          <a:blip r:embed="rId15"/>
          <a:stretch>
            <a:fillRect/>
          </a:stretch>
        </p:blipFill>
        <p:spPr>
          <a:xfrm>
            <a:off x="10629777" y="1058862"/>
            <a:ext cx="1322294" cy="2096713"/>
          </a:xfrm>
          <a:prstGeom prst="rect">
            <a:avLst/>
          </a:prstGeom>
        </p:spPr>
      </p:pic>
      <p:graphicFrame>
        <p:nvGraphicFramePr>
          <p:cNvPr id="35" name="Table 34">
            <a:extLst>
              <a:ext uri="{FF2B5EF4-FFF2-40B4-BE49-F238E27FC236}">
                <a16:creationId xmlns:a16="http://schemas.microsoft.com/office/drawing/2014/main" id="{6ED5C872-1720-2816-561E-3328FF24B1D7}"/>
              </a:ext>
            </a:extLst>
          </p:cNvPr>
          <p:cNvGraphicFramePr>
            <a:graphicFrameLocks noGrp="1"/>
          </p:cNvGraphicFramePr>
          <p:nvPr>
            <p:extLst>
              <p:ext uri="{D42A27DB-BD31-4B8C-83A1-F6EECF244321}">
                <p14:modId xmlns:p14="http://schemas.microsoft.com/office/powerpoint/2010/main" val="3206723059"/>
              </p:ext>
            </p:extLst>
          </p:nvPr>
        </p:nvGraphicFramePr>
        <p:xfrm>
          <a:off x="10520931" y="275935"/>
          <a:ext cx="1539985" cy="731520"/>
        </p:xfrm>
        <a:graphic>
          <a:graphicData uri="http://schemas.openxmlformats.org/drawingml/2006/table">
            <a:tbl>
              <a:tblPr firstRow="1" bandRow="1">
                <a:tableStyleId>{5C22544A-7EE6-4342-B048-85BDC9FD1C3A}</a:tableStyleId>
              </a:tblPr>
              <a:tblGrid>
                <a:gridCol w="1539985">
                  <a:extLst>
                    <a:ext uri="{9D8B030D-6E8A-4147-A177-3AD203B41FA5}">
                      <a16:colId xmlns:a16="http://schemas.microsoft.com/office/drawing/2014/main" val="4018675487"/>
                    </a:ext>
                  </a:extLst>
                </a:gridCol>
              </a:tblGrid>
              <a:tr h="211318">
                <a:tc>
                  <a:txBody>
                    <a:bodyPr/>
                    <a:lstStyle/>
                    <a:p>
                      <a:r>
                        <a:rPr lang="en-US" sz="1400" dirty="0"/>
                        <a:t>Create a new post OR community</a:t>
                      </a:r>
                    </a:p>
                  </a:txBody>
                  <a:tcPr>
                    <a:solidFill>
                      <a:srgbClr val="0D460A"/>
                    </a:solidFill>
                  </a:tcPr>
                </a:tc>
                <a:extLst>
                  <a:ext uri="{0D108BD9-81ED-4DB2-BD59-A6C34878D82A}">
                    <a16:rowId xmlns:a16="http://schemas.microsoft.com/office/drawing/2014/main" val="990419495"/>
                  </a:ext>
                </a:extLst>
              </a:tr>
            </a:tbl>
          </a:graphicData>
        </a:graphic>
      </p:graphicFrame>
      <p:cxnSp>
        <p:nvCxnSpPr>
          <p:cNvPr id="37" name="Straight Arrow Connector 36">
            <a:extLst>
              <a:ext uri="{FF2B5EF4-FFF2-40B4-BE49-F238E27FC236}">
                <a16:creationId xmlns:a16="http://schemas.microsoft.com/office/drawing/2014/main" id="{CA900DBE-C1AB-42F6-1AD4-29849E12AD6D}"/>
              </a:ext>
            </a:extLst>
          </p:cNvPr>
          <p:cNvCxnSpPr>
            <a:cxnSpLocks/>
            <a:stCxn id="5" idx="3"/>
            <a:endCxn id="9" idx="1"/>
          </p:cNvCxnSpPr>
          <p:nvPr/>
        </p:nvCxnSpPr>
        <p:spPr>
          <a:xfrm flipV="1">
            <a:off x="2160492" y="2107219"/>
            <a:ext cx="293595"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6E095534-9C17-784B-F5CB-6C256062AA79}"/>
              </a:ext>
            </a:extLst>
          </p:cNvPr>
          <p:cNvCxnSpPr>
            <a:cxnSpLocks/>
          </p:cNvCxnSpPr>
          <p:nvPr/>
        </p:nvCxnSpPr>
        <p:spPr>
          <a:xfrm flipV="1">
            <a:off x="3728257" y="2107218"/>
            <a:ext cx="293595"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D0ABC8AE-2D60-84FE-DAE0-5DDB5B1CC832}"/>
              </a:ext>
            </a:extLst>
          </p:cNvPr>
          <p:cNvCxnSpPr>
            <a:cxnSpLocks/>
          </p:cNvCxnSpPr>
          <p:nvPr/>
        </p:nvCxnSpPr>
        <p:spPr>
          <a:xfrm flipV="1">
            <a:off x="5392267" y="2107218"/>
            <a:ext cx="293595"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4F8862B2-5C96-4906-E703-99B316DB4DE6}"/>
              </a:ext>
            </a:extLst>
          </p:cNvPr>
          <p:cNvCxnSpPr>
            <a:cxnSpLocks/>
          </p:cNvCxnSpPr>
          <p:nvPr/>
        </p:nvCxnSpPr>
        <p:spPr>
          <a:xfrm flipV="1">
            <a:off x="7008155" y="2107217"/>
            <a:ext cx="293595"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0EDE10D9-8747-F8F8-3722-B2BA05F3CD52}"/>
              </a:ext>
            </a:extLst>
          </p:cNvPr>
          <p:cNvCxnSpPr>
            <a:cxnSpLocks/>
          </p:cNvCxnSpPr>
          <p:nvPr/>
        </p:nvCxnSpPr>
        <p:spPr>
          <a:xfrm flipV="1">
            <a:off x="8624043" y="2107216"/>
            <a:ext cx="293595"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75A8C361-2F14-F694-F29C-3ED661723C16}"/>
              </a:ext>
            </a:extLst>
          </p:cNvPr>
          <p:cNvCxnSpPr>
            <a:cxnSpLocks/>
          </p:cNvCxnSpPr>
          <p:nvPr/>
        </p:nvCxnSpPr>
        <p:spPr>
          <a:xfrm flipV="1">
            <a:off x="2112919" y="5023065"/>
            <a:ext cx="293595"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D919BB24-D47C-31AD-7CD3-F0E7E9DA4280}"/>
              </a:ext>
            </a:extLst>
          </p:cNvPr>
          <p:cNvCxnSpPr>
            <a:cxnSpLocks/>
          </p:cNvCxnSpPr>
          <p:nvPr/>
        </p:nvCxnSpPr>
        <p:spPr>
          <a:xfrm flipV="1">
            <a:off x="3776379" y="5023064"/>
            <a:ext cx="293595"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6D350F8F-A3A8-FDB2-A916-EF55D1A8AB52}"/>
              </a:ext>
            </a:extLst>
          </p:cNvPr>
          <p:cNvCxnSpPr>
            <a:cxnSpLocks/>
            <a:stCxn id="22" idx="3"/>
          </p:cNvCxnSpPr>
          <p:nvPr/>
        </p:nvCxnSpPr>
        <p:spPr>
          <a:xfrm flipV="1">
            <a:off x="5392267" y="5023063"/>
            <a:ext cx="341465" cy="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D6E84C70-A706-E41E-516A-C0CF05C3FDEB}"/>
              </a:ext>
            </a:extLst>
          </p:cNvPr>
          <p:cNvCxnSpPr>
            <a:cxnSpLocks/>
          </p:cNvCxnSpPr>
          <p:nvPr/>
        </p:nvCxnSpPr>
        <p:spPr>
          <a:xfrm flipV="1">
            <a:off x="6972841" y="5023062"/>
            <a:ext cx="293595"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FAAEB220-FD74-7255-B085-9CF923888EDC}"/>
              </a:ext>
            </a:extLst>
          </p:cNvPr>
          <p:cNvCxnSpPr>
            <a:cxnSpLocks/>
          </p:cNvCxnSpPr>
          <p:nvPr/>
        </p:nvCxnSpPr>
        <p:spPr>
          <a:xfrm flipV="1">
            <a:off x="8624043" y="5023061"/>
            <a:ext cx="293595"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91E46EA5-803F-53E3-5E3C-7E597A27A21E}"/>
              </a:ext>
            </a:extLst>
          </p:cNvPr>
          <p:cNvCxnSpPr>
            <a:cxnSpLocks/>
          </p:cNvCxnSpPr>
          <p:nvPr/>
        </p:nvCxnSpPr>
        <p:spPr>
          <a:xfrm flipV="1">
            <a:off x="10288057" y="5023061"/>
            <a:ext cx="293595"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Elbow Connector 55">
            <a:extLst>
              <a:ext uri="{FF2B5EF4-FFF2-40B4-BE49-F238E27FC236}">
                <a16:creationId xmlns:a16="http://schemas.microsoft.com/office/drawing/2014/main" id="{68857BF0-58AC-2CA5-38B8-584C6827F80B}"/>
              </a:ext>
            </a:extLst>
          </p:cNvPr>
          <p:cNvCxnSpPr>
            <a:cxnSpLocks/>
            <a:stCxn id="32" idx="0"/>
            <a:endCxn id="34" idx="2"/>
          </p:cNvCxnSpPr>
          <p:nvPr/>
        </p:nvCxnSpPr>
        <p:spPr>
          <a:xfrm rot="5400000" flipH="1" flipV="1">
            <a:off x="8679028" y="871682"/>
            <a:ext cx="328002" cy="4895789"/>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66343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897F4-C9BF-98EF-B9C1-8D2B745656C1}"/>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Firebase DB Implementation</a:t>
            </a:r>
          </a:p>
        </p:txBody>
      </p:sp>
      <p:graphicFrame>
        <p:nvGraphicFramePr>
          <p:cNvPr id="4" name="Content Placeholder 3">
            <a:extLst>
              <a:ext uri="{FF2B5EF4-FFF2-40B4-BE49-F238E27FC236}">
                <a16:creationId xmlns:a16="http://schemas.microsoft.com/office/drawing/2014/main" id="{6629E7C2-153C-2F83-1490-872088698F3C}"/>
              </a:ext>
            </a:extLst>
          </p:cNvPr>
          <p:cNvGraphicFramePr>
            <a:graphicFrameLocks noGrp="1"/>
          </p:cNvGraphicFramePr>
          <p:nvPr>
            <p:ph idx="1"/>
            <p:extLst>
              <p:ext uri="{D42A27DB-BD31-4B8C-83A1-F6EECF244321}">
                <p14:modId xmlns:p14="http://schemas.microsoft.com/office/powerpoint/2010/main" val="2457413019"/>
              </p:ext>
            </p:extLst>
          </p:nvPr>
        </p:nvGraphicFramePr>
        <p:xfrm>
          <a:off x="838199" y="1825625"/>
          <a:ext cx="10515599" cy="370840"/>
        </p:xfrm>
        <a:graphic>
          <a:graphicData uri="http://schemas.openxmlformats.org/drawingml/2006/table">
            <a:tbl>
              <a:tblPr firstRow="1" bandRow="1">
                <a:tableStyleId>{5C22544A-7EE6-4342-B048-85BDC9FD1C3A}</a:tableStyleId>
              </a:tblPr>
              <a:tblGrid>
                <a:gridCol w="3266179">
                  <a:extLst>
                    <a:ext uri="{9D8B030D-6E8A-4147-A177-3AD203B41FA5}">
                      <a16:colId xmlns:a16="http://schemas.microsoft.com/office/drawing/2014/main" val="3967049532"/>
                    </a:ext>
                  </a:extLst>
                </a:gridCol>
                <a:gridCol w="7249420">
                  <a:extLst>
                    <a:ext uri="{9D8B030D-6E8A-4147-A177-3AD203B41FA5}">
                      <a16:colId xmlns:a16="http://schemas.microsoft.com/office/drawing/2014/main" val="2574180521"/>
                    </a:ext>
                  </a:extLst>
                </a:gridCol>
              </a:tblGrid>
              <a:tr h="370840">
                <a:tc>
                  <a:txBody>
                    <a:bodyPr/>
                    <a:lstStyle/>
                    <a:p>
                      <a:pPr algn="ctr"/>
                      <a:r>
                        <a:rPr lang="en-US" dirty="0"/>
                        <a:t>User’s Authentication</a:t>
                      </a:r>
                    </a:p>
                  </a:txBody>
                  <a:tcPr/>
                </a:tc>
                <a:tc>
                  <a:txBody>
                    <a:bodyPr/>
                    <a:lstStyle/>
                    <a:p>
                      <a:pPr algn="ctr"/>
                      <a:r>
                        <a:rPr lang="en-US" dirty="0"/>
                        <a:t>Communities </a:t>
                      </a:r>
                      <a:r>
                        <a:rPr lang="en-US" dirty="0">
                          <a:sym typeface="Wingdings" pitchFamily="2" charset="2"/>
                        </a:rPr>
                        <a:t> Posts  Comments + Bookmarks</a:t>
                      </a:r>
                      <a:endParaRPr lang="en-US" dirty="0"/>
                    </a:p>
                  </a:txBody>
                  <a:tcPr/>
                </a:tc>
                <a:extLst>
                  <a:ext uri="{0D108BD9-81ED-4DB2-BD59-A6C34878D82A}">
                    <a16:rowId xmlns:a16="http://schemas.microsoft.com/office/drawing/2014/main" val="3581089507"/>
                  </a:ext>
                </a:extLst>
              </a:tr>
            </a:tbl>
          </a:graphicData>
        </a:graphic>
      </p:graphicFrame>
      <p:pic>
        <p:nvPicPr>
          <p:cNvPr id="6" name="Picture 5">
            <a:extLst>
              <a:ext uri="{FF2B5EF4-FFF2-40B4-BE49-F238E27FC236}">
                <a16:creationId xmlns:a16="http://schemas.microsoft.com/office/drawing/2014/main" id="{37B103E7-C024-3D41-541B-567A35D36A15}"/>
              </a:ext>
            </a:extLst>
          </p:cNvPr>
          <p:cNvPicPr>
            <a:picLocks noChangeAspect="1"/>
          </p:cNvPicPr>
          <p:nvPr/>
        </p:nvPicPr>
        <p:blipFill>
          <a:blip r:embed="rId2"/>
          <a:stretch>
            <a:fillRect/>
          </a:stretch>
        </p:blipFill>
        <p:spPr>
          <a:xfrm>
            <a:off x="838197" y="2196465"/>
            <a:ext cx="3233469" cy="2003644"/>
          </a:xfrm>
          <a:prstGeom prst="rect">
            <a:avLst/>
          </a:prstGeom>
        </p:spPr>
      </p:pic>
      <p:pic>
        <p:nvPicPr>
          <p:cNvPr id="18" name="Picture 17">
            <a:extLst>
              <a:ext uri="{FF2B5EF4-FFF2-40B4-BE49-F238E27FC236}">
                <a16:creationId xmlns:a16="http://schemas.microsoft.com/office/drawing/2014/main" id="{D80847D7-A1BC-3513-4575-0DA703337F6F}"/>
              </a:ext>
            </a:extLst>
          </p:cNvPr>
          <p:cNvPicPr>
            <a:picLocks noChangeAspect="1"/>
          </p:cNvPicPr>
          <p:nvPr/>
        </p:nvPicPr>
        <p:blipFill>
          <a:blip r:embed="rId3"/>
          <a:stretch>
            <a:fillRect/>
          </a:stretch>
        </p:blipFill>
        <p:spPr>
          <a:xfrm>
            <a:off x="4071666" y="2196466"/>
            <a:ext cx="7282132" cy="2003644"/>
          </a:xfrm>
          <a:prstGeom prst="rect">
            <a:avLst/>
          </a:prstGeom>
        </p:spPr>
      </p:pic>
      <p:pic>
        <p:nvPicPr>
          <p:cNvPr id="20" name="Picture 19">
            <a:extLst>
              <a:ext uri="{FF2B5EF4-FFF2-40B4-BE49-F238E27FC236}">
                <a16:creationId xmlns:a16="http://schemas.microsoft.com/office/drawing/2014/main" id="{252EF23F-953B-0041-1D5A-31DD1CA7B0E6}"/>
              </a:ext>
            </a:extLst>
          </p:cNvPr>
          <p:cNvPicPr>
            <a:picLocks noChangeAspect="1"/>
          </p:cNvPicPr>
          <p:nvPr/>
        </p:nvPicPr>
        <p:blipFill>
          <a:blip r:embed="rId4"/>
          <a:stretch>
            <a:fillRect/>
          </a:stretch>
        </p:blipFill>
        <p:spPr>
          <a:xfrm>
            <a:off x="4071666" y="4261449"/>
            <a:ext cx="7282132" cy="2156604"/>
          </a:xfrm>
          <a:prstGeom prst="rect">
            <a:avLst/>
          </a:prstGeom>
        </p:spPr>
      </p:pic>
    </p:spTree>
    <p:extLst>
      <p:ext uri="{BB962C8B-B14F-4D97-AF65-F5344CB8AC3E}">
        <p14:creationId xmlns:p14="http://schemas.microsoft.com/office/powerpoint/2010/main" val="2114307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3B5BF2A-33DA-22CB-D300-D1435D8BF28F}"/>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AA46F979-CF50-8460-9346-26F0497556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562AC3D-0B4C-D855-56DC-170B715A9EF8}"/>
              </a:ext>
            </a:extLst>
          </p:cNvPr>
          <p:cNvSpPr>
            <a:spLocks noGrp="1"/>
          </p:cNvSpPr>
          <p:nvPr>
            <p:ph type="title"/>
          </p:nvPr>
        </p:nvSpPr>
        <p:spPr>
          <a:xfrm>
            <a:off x="838200" y="365125"/>
            <a:ext cx="10515600" cy="1325563"/>
          </a:xfrm>
        </p:spPr>
        <p:txBody>
          <a:bodyPr>
            <a:normAutofit/>
          </a:bodyPr>
          <a:lstStyle/>
          <a:p>
            <a:pPr>
              <a:lnSpc>
                <a:spcPct val="100000"/>
              </a:lnSpc>
            </a:pPr>
            <a:r>
              <a:rPr lang="en-US" sz="4000" b="1" u="sng" dirty="0">
                <a:highlight>
                  <a:srgbClr val="FFFF00"/>
                </a:highlight>
                <a:latin typeface="Times New Roman" panose="02020603050405020304" pitchFamily="18" charset="0"/>
                <a:cs typeface="Times New Roman" panose="02020603050405020304" pitchFamily="18" charset="0"/>
              </a:rPr>
              <a:t>Problem areas encountered:</a:t>
            </a:r>
            <a:endParaRPr lang="ru-RU" sz="4200" b="1" u="sng" dirty="0">
              <a:highlight>
                <a:srgbClr val="FFFF00"/>
              </a:highlight>
              <a:latin typeface="Times New Roman" panose="02020603050405020304" pitchFamily="18" charset="0"/>
              <a:cs typeface="Times New Roman" panose="02020603050405020304" pitchFamily="18" charset="0"/>
            </a:endParaRPr>
          </a:p>
        </p:txBody>
      </p:sp>
      <p:sp>
        <p:nvSpPr>
          <p:cNvPr id="26" name="sketch line">
            <a:extLst>
              <a:ext uri="{FF2B5EF4-FFF2-40B4-BE49-F238E27FC236}">
                <a16:creationId xmlns:a16="http://schemas.microsoft.com/office/drawing/2014/main" id="{8882CF77-0E1F-7550-0D03-C5B8486839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4">
            <a:extLst>
              <a:ext uri="{FF2B5EF4-FFF2-40B4-BE49-F238E27FC236}">
                <a16:creationId xmlns:a16="http://schemas.microsoft.com/office/drawing/2014/main" id="{A17F97C1-4C0D-7602-666B-7A0B45E8D928}"/>
              </a:ext>
            </a:extLst>
          </p:cNvPr>
          <p:cNvSpPr>
            <a:spLocks noGrp="1"/>
          </p:cNvSpPr>
          <p:nvPr>
            <p:ph idx="1"/>
          </p:nvPr>
        </p:nvSpPr>
        <p:spPr>
          <a:xfrm>
            <a:off x="838200" y="1929384"/>
            <a:ext cx="10515600" cy="4384116"/>
          </a:xfrm>
        </p:spPr>
        <p:txBody>
          <a:bodyPr>
            <a:normAutofit fontScale="92500"/>
          </a:bodyPr>
          <a:lstStyle/>
          <a:p>
            <a:r>
              <a:rPr lang="en-US" sz="1900" b="1" u="sng" dirty="0">
                <a:latin typeface="Times New Roman" panose="02020603050405020304" pitchFamily="18" charset="0"/>
                <a:cs typeface="Times New Roman" panose="02020603050405020304" pitchFamily="18" charset="0"/>
              </a:rPr>
              <a:t>Like/Dislike System</a:t>
            </a:r>
            <a:r>
              <a:rPr lang="en-US" sz="1900" b="1" dirty="0">
                <a:latin typeface="Times New Roman" panose="02020603050405020304" pitchFamily="18" charset="0"/>
                <a:cs typeface="Times New Roman" panose="02020603050405020304" pitchFamily="18" charset="0"/>
              </a:rPr>
              <a:t>:</a:t>
            </a:r>
            <a:r>
              <a:rPr lang="en-US" sz="1900" dirty="0">
                <a:latin typeface="Times New Roman" panose="02020603050405020304" pitchFamily="18" charset="0"/>
                <a:cs typeface="Times New Roman" panose="02020603050405020304" pitchFamily="18" charset="0"/>
              </a:rPr>
              <a:t> Stores individual user reactions in a database for AI-based analysis and summarization. </a:t>
            </a:r>
          </a:p>
          <a:p>
            <a:r>
              <a:rPr lang="en-US" sz="1900" b="1" u="sng" dirty="0">
                <a:latin typeface="Times New Roman" panose="02020603050405020304" pitchFamily="18" charset="0"/>
                <a:cs typeface="Times New Roman" panose="02020603050405020304" pitchFamily="18" charset="0"/>
              </a:rPr>
              <a:t>Comment System</a:t>
            </a:r>
            <a:r>
              <a:rPr lang="en-US" sz="1900" b="1" dirty="0">
                <a:latin typeface="Times New Roman" panose="02020603050405020304" pitchFamily="18" charset="0"/>
                <a:cs typeface="Times New Roman" panose="02020603050405020304" pitchFamily="18" charset="0"/>
              </a:rPr>
              <a:t>:</a:t>
            </a:r>
            <a:r>
              <a:rPr lang="en-US" sz="1900" dirty="0">
                <a:latin typeface="Times New Roman" panose="02020603050405020304" pitchFamily="18" charset="0"/>
                <a:cs typeface="Times New Roman" panose="02020603050405020304" pitchFamily="18" charset="0"/>
              </a:rPr>
              <a:t> Saves threaded comments and tracks likes on each comment. </a:t>
            </a:r>
          </a:p>
          <a:p>
            <a:r>
              <a:rPr lang="en-US" sz="1900" b="1" u="sng" dirty="0">
                <a:latin typeface="Times New Roman" panose="02020603050405020304" pitchFamily="18" charset="0"/>
                <a:cs typeface="Times New Roman" panose="02020603050405020304" pitchFamily="18" charset="0"/>
              </a:rPr>
              <a:t>Local Deployment</a:t>
            </a:r>
            <a:r>
              <a:rPr lang="en-US" sz="1900" b="1" dirty="0">
                <a:latin typeface="Times New Roman" panose="02020603050405020304" pitchFamily="18" charset="0"/>
                <a:cs typeface="Times New Roman" panose="02020603050405020304" pitchFamily="18" charset="0"/>
              </a:rPr>
              <a:t>:</a:t>
            </a:r>
            <a:r>
              <a:rPr lang="en-US" sz="1900" dirty="0">
                <a:latin typeface="Times New Roman" panose="02020603050405020304" pitchFamily="18" charset="0"/>
                <a:cs typeface="Times New Roman" panose="02020603050405020304" pitchFamily="18" charset="0"/>
              </a:rPr>
              <a:t> Hosted on localhost for development and testing (no external server required currently). </a:t>
            </a:r>
          </a:p>
          <a:p>
            <a:r>
              <a:rPr lang="en-US" sz="1900" b="1" u="sng" dirty="0">
                <a:latin typeface="Times New Roman" panose="02020603050405020304" pitchFamily="18" charset="0"/>
                <a:cs typeface="Times New Roman" panose="02020603050405020304" pitchFamily="18" charset="0"/>
              </a:rPr>
              <a:t>U/I Design</a:t>
            </a:r>
            <a:r>
              <a:rPr lang="en-US" sz="1900" b="1" dirty="0">
                <a:latin typeface="Times New Roman" panose="02020603050405020304" pitchFamily="18" charset="0"/>
                <a:cs typeface="Times New Roman" panose="02020603050405020304" pitchFamily="18" charset="0"/>
              </a:rPr>
              <a:t>:</a:t>
            </a:r>
            <a:r>
              <a:rPr lang="en-US" sz="1900" dirty="0">
                <a:latin typeface="Times New Roman" panose="02020603050405020304" pitchFamily="18" charset="0"/>
                <a:cs typeface="Times New Roman" panose="02020603050405020304" pitchFamily="18" charset="0"/>
              </a:rPr>
              <a:t> Focus on building and refining user-friendly interface designs. </a:t>
            </a:r>
          </a:p>
          <a:p>
            <a:r>
              <a:rPr lang="en-US" sz="1900" b="1" u="sng" dirty="0">
                <a:latin typeface="Times New Roman" panose="02020603050405020304" pitchFamily="18" charset="0"/>
                <a:cs typeface="Times New Roman" panose="02020603050405020304" pitchFamily="18" charset="0"/>
              </a:rPr>
              <a:t>Emulator Selection</a:t>
            </a:r>
            <a:r>
              <a:rPr lang="en-US" sz="1900" b="1" dirty="0">
                <a:latin typeface="Times New Roman" panose="02020603050405020304" pitchFamily="18" charset="0"/>
                <a:cs typeface="Times New Roman" panose="02020603050405020304" pitchFamily="18" charset="0"/>
              </a:rPr>
              <a:t>:</a:t>
            </a:r>
            <a:r>
              <a:rPr lang="en-US" sz="1900" dirty="0">
                <a:latin typeface="Times New Roman" panose="02020603050405020304" pitchFamily="18" charset="0"/>
                <a:cs typeface="Times New Roman" panose="02020603050405020304" pitchFamily="18" charset="0"/>
              </a:rPr>
              <a:t> Choosing a lightweight emulator optimized for smooth performance on a MacBook (2020 model).</a:t>
            </a:r>
          </a:p>
          <a:p>
            <a:pPr marL="0" indent="0" algn="just">
              <a:buNone/>
            </a:pPr>
            <a:endParaRPr lang="en-US" sz="2200" dirty="0">
              <a:latin typeface="Times New Roman" panose="02020603050405020304" pitchFamily="18" charset="0"/>
              <a:cs typeface="Times New Roman" panose="02020603050405020304" pitchFamily="18" charset="0"/>
            </a:endParaRPr>
          </a:p>
          <a:p>
            <a:pPr marL="0" indent="0" algn="just">
              <a:buNone/>
            </a:pPr>
            <a:r>
              <a:rPr lang="en-US" b="1" u="sng" dirty="0">
                <a:highlight>
                  <a:srgbClr val="FFFF00"/>
                </a:highlight>
                <a:latin typeface="Times New Roman" panose="02020603050405020304" pitchFamily="18" charset="0"/>
                <a:cs typeface="Times New Roman" panose="02020603050405020304" pitchFamily="18" charset="0"/>
              </a:rPr>
              <a:t>Future App modifications and tweak suggestions:</a:t>
            </a:r>
          </a:p>
          <a:p>
            <a:pPr algn="just"/>
            <a:r>
              <a:rPr lang="en-US" sz="1900" b="1" u="sng" dirty="0">
                <a:latin typeface="Times New Roman" panose="02020603050405020304" pitchFamily="18" charset="0"/>
                <a:cs typeface="Times New Roman" panose="02020603050405020304" pitchFamily="18" charset="0"/>
              </a:rPr>
              <a:t>Live Deployment</a:t>
            </a:r>
            <a:r>
              <a:rPr lang="en-US" sz="1900" dirty="0">
                <a:latin typeface="Times New Roman" panose="02020603050405020304" pitchFamily="18" charset="0"/>
                <a:cs typeface="Times New Roman" panose="02020603050405020304" pitchFamily="18" charset="0"/>
              </a:rPr>
              <a:t>: Hosting the app and collecting real user feedback and reviews.</a:t>
            </a:r>
          </a:p>
          <a:p>
            <a:pPr algn="just"/>
            <a:r>
              <a:rPr lang="en-US" sz="1900" b="1" u="sng" dirty="0">
                <a:latin typeface="Times New Roman" panose="02020603050405020304" pitchFamily="18" charset="0"/>
                <a:cs typeface="Times New Roman" panose="02020603050405020304" pitchFamily="18" charset="0"/>
              </a:rPr>
              <a:t>Performance Optimization</a:t>
            </a:r>
            <a:r>
              <a:rPr lang="en-US" sz="1900" dirty="0">
                <a:latin typeface="Times New Roman" panose="02020603050405020304" pitchFamily="18" charset="0"/>
                <a:cs typeface="Times New Roman" panose="02020603050405020304" pitchFamily="18" charset="0"/>
              </a:rPr>
              <a:t>: Integrating native libraries for faster and more efficient access. </a:t>
            </a:r>
          </a:p>
          <a:p>
            <a:pPr algn="just"/>
            <a:r>
              <a:rPr lang="en-US" sz="1900" b="1" u="sng" dirty="0">
                <a:latin typeface="Times New Roman" panose="02020603050405020304" pitchFamily="18" charset="0"/>
                <a:cs typeface="Times New Roman" panose="02020603050405020304" pitchFamily="18" charset="0"/>
              </a:rPr>
              <a:t>U/I Revamp</a:t>
            </a:r>
            <a:r>
              <a:rPr lang="en-US" sz="1900" dirty="0">
                <a:latin typeface="Times New Roman" panose="02020603050405020304" pitchFamily="18" charset="0"/>
                <a:cs typeface="Times New Roman" panose="02020603050405020304" pitchFamily="18" charset="0"/>
              </a:rPr>
              <a:t>: Designing a fresh, modern interface inspired by Reddit-style user experience.</a:t>
            </a:r>
          </a:p>
        </p:txBody>
      </p:sp>
    </p:spTree>
    <p:extLst>
      <p:ext uri="{BB962C8B-B14F-4D97-AF65-F5344CB8AC3E}">
        <p14:creationId xmlns:p14="http://schemas.microsoft.com/office/powerpoint/2010/main" val="29931869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55820-89C3-4AEF-7C66-7FDBB44CF814}"/>
              </a:ext>
            </a:extLst>
          </p:cNvPr>
          <p:cNvSpPr>
            <a:spLocks noGrp="1"/>
          </p:cNvSpPr>
          <p:nvPr>
            <p:ph type="title"/>
          </p:nvPr>
        </p:nvSpPr>
        <p:spPr>
          <a:xfrm>
            <a:off x="762001" y="5074024"/>
            <a:ext cx="10109199" cy="598032"/>
          </a:xfrm>
        </p:spPr>
        <p:txBody>
          <a:bodyPr vert="horz" lIns="91440" tIns="45720" rIns="91440" bIns="45720" rtlCol="0" anchor="ctr">
            <a:normAutofit fontScale="90000"/>
          </a:bodyPr>
          <a:lstStyle/>
          <a:p>
            <a:r>
              <a:rPr lang="en-US" sz="3600" dirty="0"/>
              <a:t>API used + Extra credits</a:t>
            </a:r>
            <a:br>
              <a:rPr lang="en-US" sz="3600" dirty="0"/>
            </a:br>
            <a:r>
              <a:rPr lang="en-US" sz="3600" dirty="0"/>
              <a:t>Updated on 6</a:t>
            </a:r>
            <a:r>
              <a:rPr lang="en-US" sz="3600" baseline="30000" dirty="0"/>
              <a:t>th</a:t>
            </a:r>
            <a:r>
              <a:rPr lang="en-US" sz="3600" dirty="0"/>
              <a:t> May (After presentation)</a:t>
            </a:r>
            <a:endParaRPr lang="en-US" sz="3600" kern="1200" dirty="0">
              <a:solidFill>
                <a:schemeClr val="tx1"/>
              </a:solidFill>
              <a:latin typeface="+mj-lt"/>
              <a:ea typeface="+mj-ea"/>
              <a:cs typeface="+mj-cs"/>
            </a:endParaRPr>
          </a:p>
        </p:txBody>
      </p:sp>
      <p:pic>
        <p:nvPicPr>
          <p:cNvPr id="5" name="Content Placeholder 4">
            <a:extLst>
              <a:ext uri="{FF2B5EF4-FFF2-40B4-BE49-F238E27FC236}">
                <a16:creationId xmlns:a16="http://schemas.microsoft.com/office/drawing/2014/main" id="{63F33AF3-A10C-5C3A-5E63-A7182C8F8F93}"/>
              </a:ext>
            </a:extLst>
          </p:cNvPr>
          <p:cNvPicPr>
            <a:picLocks noChangeAspect="1"/>
          </p:cNvPicPr>
          <p:nvPr/>
        </p:nvPicPr>
        <p:blipFill>
          <a:blip r:embed="rId2"/>
          <a:srcRect r="6503" b="-1"/>
          <a:stretch>
            <a:fillRect/>
          </a:stretch>
        </p:blipFill>
        <p:spPr>
          <a:xfrm>
            <a:off x="20" y="-40"/>
            <a:ext cx="6095980" cy="4172827"/>
          </a:xfrm>
          <a:prstGeom prst="rect">
            <a:avLst/>
          </a:prstGeom>
        </p:spPr>
      </p:pic>
      <p:pic>
        <p:nvPicPr>
          <p:cNvPr id="7" name="Content Placeholder 6">
            <a:extLst>
              <a:ext uri="{FF2B5EF4-FFF2-40B4-BE49-F238E27FC236}">
                <a16:creationId xmlns:a16="http://schemas.microsoft.com/office/drawing/2014/main" id="{F2F4F4F0-A5EE-5409-8F83-D580D27B62E9}"/>
              </a:ext>
            </a:extLst>
          </p:cNvPr>
          <p:cNvPicPr>
            <a:picLocks noGrp="1" noChangeAspect="1"/>
          </p:cNvPicPr>
          <p:nvPr>
            <p:ph idx="1"/>
          </p:nvPr>
        </p:nvPicPr>
        <p:blipFill>
          <a:blip r:embed="rId3"/>
          <a:srcRect r="3581" b="-1"/>
          <a:stretch>
            <a:fillRect/>
          </a:stretch>
        </p:blipFill>
        <p:spPr>
          <a:xfrm>
            <a:off x="6096000" y="-43"/>
            <a:ext cx="6096000" cy="4172829"/>
          </a:xfrm>
          <a:prstGeom prst="rect">
            <a:avLst/>
          </a:prstGeom>
        </p:spPr>
      </p:pic>
      <p:cxnSp>
        <p:nvCxnSpPr>
          <p:cNvPr id="27" name="Straight Connector 26">
            <a:extLst>
              <a:ext uri="{FF2B5EF4-FFF2-40B4-BE49-F238E27FC236}">
                <a16:creationId xmlns:a16="http://schemas.microsoft.com/office/drawing/2014/main" id="{7667AA61-5C27-F30F-D229-06CBE5709F3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1" y="4811517"/>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60881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462EB24-CF07-067F-6E64-34C31F054E73}"/>
            </a:ext>
          </a:extLst>
        </p:cNvPr>
        <p:cNvGrpSpPr/>
        <p:nvPr/>
      </p:nvGrpSpPr>
      <p:grpSpPr>
        <a:xfrm>
          <a:off x="0" y="0"/>
          <a:ext cx="0" cy="0"/>
          <a:chOff x="0" y="0"/>
          <a:chExt cx="0" cy="0"/>
        </a:xfrm>
      </p:grpSpPr>
      <p:sp>
        <p:nvSpPr>
          <p:cNvPr id="32" name="Slide Background">
            <a:extLst>
              <a:ext uri="{FF2B5EF4-FFF2-40B4-BE49-F238E27FC236}">
                <a16:creationId xmlns:a16="http://schemas.microsoft.com/office/drawing/2014/main" id="{AA857166-A416-4C5E-8AA9-5D5D1E13D1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34" name="Rectangle 33">
            <a:extLst>
              <a:ext uri="{FF2B5EF4-FFF2-40B4-BE49-F238E27FC236}">
                <a16:creationId xmlns:a16="http://schemas.microsoft.com/office/drawing/2014/main" id="{13A48C6C-3CC4-4EE5-A773-EC1EB7F59C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0" y="0"/>
            <a:ext cx="4617491" cy="6858000"/>
          </a:xfrm>
          <a:prstGeom prst="rect">
            <a:avLst/>
          </a:prstGeom>
          <a:ln>
            <a:noFill/>
          </a:ln>
          <a:effectLst>
            <a:outerShdw blurRad="203200" dist="88900" dir="21540000" sx="94000" sy="94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6" name="Rectangle 35">
            <a:extLst>
              <a:ext uri="{FF2B5EF4-FFF2-40B4-BE49-F238E27FC236}">
                <a16:creationId xmlns:a16="http://schemas.microsoft.com/office/drawing/2014/main" id="{F489C2E0-4895-4B72-85EA-7EE9FAFFDC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0" y="-1"/>
            <a:ext cx="4617491" cy="5136739"/>
          </a:xfrm>
          <a:prstGeom prst="rect">
            <a:avLst/>
          </a:prstGeom>
          <a:ln>
            <a:noFill/>
          </a:ln>
          <a:effectLst>
            <a:outerShdw blurRad="177800" dist="101600" dir="5400000" sx="97000" sy="97000" algn="t"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84DE387-AFDC-34B2-2CF0-47FA2084CF05}"/>
              </a:ext>
            </a:extLst>
          </p:cNvPr>
          <p:cNvSpPr>
            <a:spLocks noGrp="1"/>
          </p:cNvSpPr>
          <p:nvPr>
            <p:ph type="title"/>
          </p:nvPr>
        </p:nvSpPr>
        <p:spPr>
          <a:xfrm>
            <a:off x="652887" y="617921"/>
            <a:ext cx="3482041" cy="3988585"/>
          </a:xfrm>
        </p:spPr>
        <p:txBody>
          <a:bodyPr vert="horz" lIns="91440" tIns="45720" rIns="91440" bIns="45720" rtlCol="0" anchor="ctr">
            <a:normAutofit/>
          </a:bodyPr>
          <a:lstStyle/>
          <a:p>
            <a:r>
              <a:rPr lang="en-US" sz="4100" kern="1200" dirty="0">
                <a:solidFill>
                  <a:schemeClr val="tx1"/>
                </a:solidFill>
                <a:latin typeface="+mj-lt"/>
                <a:ea typeface="+mj-ea"/>
                <a:cs typeface="+mj-cs"/>
              </a:rPr>
              <a:t>API used + Extra credits</a:t>
            </a:r>
            <a:br>
              <a:rPr lang="en-US" sz="4100" kern="1200" dirty="0">
                <a:solidFill>
                  <a:schemeClr val="tx1"/>
                </a:solidFill>
                <a:latin typeface="+mj-lt"/>
                <a:ea typeface="+mj-ea"/>
                <a:cs typeface="+mj-cs"/>
              </a:rPr>
            </a:br>
            <a:r>
              <a:rPr lang="en-US" sz="4100" kern="1200" dirty="0">
                <a:solidFill>
                  <a:schemeClr val="tx1"/>
                </a:solidFill>
                <a:latin typeface="+mj-lt"/>
                <a:ea typeface="+mj-ea"/>
                <a:cs typeface="+mj-cs"/>
              </a:rPr>
              <a:t>Updated on 6</a:t>
            </a:r>
            <a:r>
              <a:rPr lang="en-US" sz="4100" kern="1200" baseline="30000" dirty="0">
                <a:solidFill>
                  <a:schemeClr val="tx1"/>
                </a:solidFill>
                <a:latin typeface="+mj-lt"/>
                <a:ea typeface="+mj-ea"/>
                <a:cs typeface="+mj-cs"/>
              </a:rPr>
              <a:t>th</a:t>
            </a:r>
            <a:r>
              <a:rPr lang="en-US" sz="4100" kern="1200" dirty="0">
                <a:solidFill>
                  <a:schemeClr val="tx1"/>
                </a:solidFill>
                <a:latin typeface="+mj-lt"/>
                <a:ea typeface="+mj-ea"/>
                <a:cs typeface="+mj-cs"/>
              </a:rPr>
              <a:t> May (After presentation)</a:t>
            </a:r>
          </a:p>
        </p:txBody>
      </p:sp>
      <p:pic>
        <p:nvPicPr>
          <p:cNvPr id="8" name="Content Placeholder 7">
            <a:extLst>
              <a:ext uri="{FF2B5EF4-FFF2-40B4-BE49-F238E27FC236}">
                <a16:creationId xmlns:a16="http://schemas.microsoft.com/office/drawing/2014/main" id="{47346FB6-37D0-4AC5-6DBE-4027BC047E8D}"/>
              </a:ext>
            </a:extLst>
          </p:cNvPr>
          <p:cNvPicPr>
            <a:picLocks noGrp="1" noChangeAspect="1"/>
          </p:cNvPicPr>
          <p:nvPr>
            <p:ph idx="1"/>
          </p:nvPr>
        </p:nvPicPr>
        <p:blipFill>
          <a:blip r:embed="rId2"/>
          <a:stretch>
            <a:fillRect/>
          </a:stretch>
        </p:blipFill>
        <p:spPr>
          <a:xfrm>
            <a:off x="5199145" y="1366447"/>
            <a:ext cx="6409958" cy="4214547"/>
          </a:xfrm>
          <a:prstGeom prst="rect">
            <a:avLst/>
          </a:prstGeom>
        </p:spPr>
      </p:pic>
    </p:spTree>
    <p:extLst>
      <p:ext uri="{BB962C8B-B14F-4D97-AF65-F5344CB8AC3E}">
        <p14:creationId xmlns:p14="http://schemas.microsoft.com/office/powerpoint/2010/main" val="3789403434"/>
      </p:ext>
    </p:extLst>
  </p:cSld>
  <p:clrMapOvr>
    <a:masterClrMapping/>
  </p:clrMapOvr>
</p:sld>
</file>

<file path=ppt/theme/theme1.xml><?xml version="1.0" encoding="utf-8"?>
<a:theme xmlns:a="http://schemas.openxmlformats.org/drawingml/2006/main" name="Office Theme">
  <a:themeElements>
    <a:clrScheme name="Recordsure">
      <a:dk1>
        <a:sysClr val="windowText" lastClr="000000"/>
      </a:dk1>
      <a:lt1>
        <a:sysClr val="window" lastClr="FFFFFF"/>
      </a:lt1>
      <a:dk2>
        <a:srgbClr val="44546A"/>
      </a:dk2>
      <a:lt2>
        <a:srgbClr val="E7E6E6"/>
      </a:lt2>
      <a:accent1>
        <a:srgbClr val="2D184F"/>
      </a:accent1>
      <a:accent2>
        <a:srgbClr val="F59120"/>
      </a:accent2>
      <a:accent3>
        <a:srgbClr val="EA2B7B"/>
      </a:accent3>
      <a:accent4>
        <a:srgbClr val="3F3F3F"/>
      </a:accent4>
      <a:accent5>
        <a:srgbClr val="F2F2F2"/>
      </a:accent5>
      <a:accent6>
        <a:srgbClr val="2D184F"/>
      </a:accent6>
      <a:hlink>
        <a:srgbClr val="2D184F"/>
      </a:hlink>
      <a:folHlink>
        <a:srgbClr val="2D184F"/>
      </a:folHlink>
    </a:clrScheme>
    <a:fontScheme name="Custom 242">
      <a:majorFont>
        <a:latin typeface="Rockwell"/>
        <a:ea typeface=""/>
        <a:cs typeface=""/>
      </a:majorFont>
      <a:minorFont>
        <a:latin typeface="Corbe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imeline from Smartart_03_SB_MO - v5" id="{425EA364-DCB0-43CA-AF00-818259ABB39D}" vid="{79945F6C-7F23-4807-8DFE-8CDF775AD49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D74EB9B-7266-4B7D-8D05-61AFFA2D98CE}">
  <ds:schemaRefs>
    <ds:schemaRef ds:uri="http://schemas.microsoft.com/sharepoint/v3/contenttype/forms"/>
  </ds:schemaRefs>
</ds:datastoreItem>
</file>

<file path=customXml/itemProps2.xml><?xml version="1.0" encoding="utf-8"?>
<ds:datastoreItem xmlns:ds="http://schemas.openxmlformats.org/officeDocument/2006/customXml" ds:itemID="{3FECF931-103B-45DC-BD65-E857FF219F39}">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28612E19-D4B9-46B2-8454-FD75D2F4E6F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2344</TotalTime>
  <Words>1604</Words>
  <Application>Microsoft Macintosh PowerPoint</Application>
  <PresentationFormat>Widescreen</PresentationFormat>
  <Paragraphs>187</Paragraphs>
  <Slides>11</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Corbel</vt:lpstr>
      <vt:lpstr>Rockwell</vt:lpstr>
      <vt:lpstr>Times New Roman</vt:lpstr>
      <vt:lpstr>Wingdings</vt:lpstr>
      <vt:lpstr>Office Theme</vt:lpstr>
      <vt:lpstr>Final Project: Nexus (i.e., Reddit-like platform) </vt:lpstr>
      <vt:lpstr>Understanding the Idea Behind the Project</vt:lpstr>
      <vt:lpstr>Implementation flowchart - 1</vt:lpstr>
      <vt:lpstr>Implementation flowchart-02 (U/I part-01)</vt:lpstr>
      <vt:lpstr>Implementation flowchart-02 (U/I part-02)</vt:lpstr>
      <vt:lpstr>Implementation flowchart-02 (U/I part-03)</vt:lpstr>
      <vt:lpstr>Finalized App Screenshots</vt:lpstr>
      <vt:lpstr>Firebase DB Implementation</vt:lpstr>
      <vt:lpstr>Problem areas encountered:</vt:lpstr>
      <vt:lpstr>API used + Extra credits Updated on 6th May (After presentation)</vt:lpstr>
      <vt:lpstr>API used + Extra credits Updated on 6th May (After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Harsh Patel</dc:creator>
  <cp:lastModifiedBy>Harsh Patel</cp:lastModifiedBy>
  <cp:revision>593</cp:revision>
  <dcterms:created xsi:type="dcterms:W3CDTF">2026-03-25T15:15:28Z</dcterms:created>
  <dcterms:modified xsi:type="dcterms:W3CDTF">2026-05-06T19:59:29Z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